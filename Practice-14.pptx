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embeddedFontLst>
    <p:embeddedFont>
      <p:font typeface="Barlow Medium" panose="020B0604020202020204" charset="0"/>
      <p:regular r:id="rId11"/>
    </p:embeddedFont>
    <p:embeddedFont>
      <p:font typeface="Fragment Mono" panose="020B0604020202020204" charset="0"/>
      <p:regular r:id="rId12"/>
    </p:embeddedFont>
    <p:embeddedFont>
      <p:font typeface="Saira Semi Condensed ExtraBold" panose="020B0604020202020204" charset="0"/>
      <p:regular r:id="rId13"/>
    </p:embeddedFont>
    <p:embeddedFont>
      <p:font typeface="Calibri" panose="020F0502020204030204" pitchFamily="34" charset="0"/>
      <p:regular r:id="rId14"/>
      <p:bold r:id="rId15"/>
      <p:italic r:id="rId16"/>
      <p:boldItalic r:id="rId17"/>
    </p:embeddedFont>
    <p:embeddedFont>
      <p:font typeface="Barlow SemiBold" panose="020B0604020202020204" charset="0"/>
      <p:regular r:id="rId18"/>
    </p:embeddedFont>
    <p:embeddedFont>
      <p:font typeface="Barlow Bold" panose="020B0604020202020204" charset="0"/>
      <p:regular r:id="rId19"/>
    </p:embeddedFont>
    <p:embeddedFont>
      <p:font typeface="Barlow" panose="020B0604020202020204" charset="0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3" d="100"/>
          <a:sy n="73" d="100"/>
        </p:scale>
        <p:origin x="59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88730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generative AI as a family of models that create content by learning patterns in data. The talk moves from the basic distinction to the pipeline, modalities, Transformers, applications, and responsible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title is a teaching shorthand for traditional predictive tasks, not a claim that all non-generative AI is limited to classification. Generative AI also predicts internally, but its user-facing result is content rather than a category. New output is not guaranteed to be unique or factually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Separate training from inference. Training changes weights using data; inference uses those learned weights with the user's prompt. The final stages are a simplified teaching sequence: the prompt enters the trained model, which samples an output. The lower diagram is a conceptual layer view rather than a literal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examples of modalities and tools, not equivalent architectures. Whisper is primarily a speech-recognition model, so its role is transcription rather than generating new speech. MusicLM is the generative audio example. Code and text often share token-based modeling, while image and video systems may use diffusion or other approaches.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Embeddings convert token IDs into vectors. In a decoder-only LLM, causal masking prevents attention to future tokens. Repeated attention and feed-forward blocks produce a distribution over the vocabulary. A token is selected, appended to the sequence, and the process repeats. Next-token prediction supports fluent generation but does not guarantee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applications range from everyday drafting to specialized research. A useful output still needs evaluation: clinicians review notes, developers test code, and researchers validate proposed proteins. The computing hardware is shown as a real object, not as a substitute for explaining the applications.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benefits and risks appear together in practice. Treat generated material as a draft, verify important claims against reliable sources, avoid entering sensitive information without appropriate safeguards, and review legal and ethical constraints before publishing or deploying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emphasizing human judgment. Multimodal systems combine information across media, agents can coordinate tool-based tasks, and efficient models can broaden deployment options. The final line is an aspirational closing statement rather than a prediction of labor-market outcomes. Invite questions about architectures, applications, and responsible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1E0E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2">
    <p:bg>
      <p:bgPr>
        <a:solidFill>
          <a:srgbClr val="1E0E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0658"/>
            <a:ext cx="7518212" cy="1675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kern="100" spc="88" dirty="0">
                <a:solidFill>
                  <a:srgbClr val="C7D14F"/>
                </a:solidFill>
                <a:latin typeface="Fragment Mono" pitchFamily="34" charset="0"/>
                <a:ea typeface="Fragment Mono" pitchFamily="34" charset="-122"/>
                <a:cs typeface="Fragment Mono" pitchFamily="34" charset="-120"/>
              </a:rPr>
              <a:t>M.TECH CSE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9585" y="2347809"/>
            <a:ext cx="6908627" cy="7965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2000"/>
              </a:lnSpc>
              <a:buNone/>
            </a:pPr>
            <a:r>
              <a:rPr lang="en-US" sz="6400" kern="100" spc="-64" dirty="0">
                <a:solidFill>
                  <a:srgbClr val="F8ED43"/>
                </a:solidFill>
                <a:latin typeface="Saira Semi Condensed ExtraBold" pitchFamily="34" charset="0"/>
                <a:ea typeface="Saira Semi Condensed ExtraBold" pitchFamily="34" charset="-122"/>
                <a:cs typeface="Saira Semi Condensed ExtraBold" pitchFamily="34" charset="-120"/>
              </a:rPr>
              <a:t>Generative AI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609585" y="3260606"/>
            <a:ext cx="6908627" cy="853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3200" kern="100" spc="-16" dirty="0">
                <a:solidFill>
                  <a:srgbClr val="F8ED43"/>
                </a:solidFill>
                <a:latin typeface="Saira Semi Condensed ExtraBold" pitchFamily="34" charset="0"/>
                <a:ea typeface="Saira Semi Condensed ExtraBold" pitchFamily="34" charset="-122"/>
                <a:cs typeface="Saira Semi Condensed ExtraBold" pitchFamily="34" charset="-120"/>
              </a:rPr>
              <a:t>How Artificial Intelligence</a:t>
            </a:r>
            <a:endParaRPr lang="en-US" sz="3200" dirty="0"/>
          </a:p>
          <a:p>
            <a:pPr marL="0" indent="0" algn="l">
              <a:lnSpc>
                <a:spcPct val="87000"/>
              </a:lnSpc>
              <a:buNone/>
            </a:pPr>
            <a:r>
              <a:rPr lang="en-US" sz="3200" kern="100" spc="-16" dirty="0">
                <a:solidFill>
                  <a:srgbClr val="F8ED43"/>
                </a:solidFill>
                <a:latin typeface="Saira Semi Condensed ExtraBold" pitchFamily="34" charset="0"/>
                <a:ea typeface="Saira Semi Condensed ExtraBold" pitchFamily="34" charset="-122"/>
                <a:cs typeface="Saira Semi Condensed ExtraBold" pitchFamily="34" charset="-120"/>
              </a:rPr>
              <a:t>Creates New Content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09585" y="5566470"/>
            <a:ext cx="1846232" cy="304800"/>
          </a:xfrm>
          <a:prstGeom prst="rect">
            <a:avLst/>
          </a:prstGeom>
          <a:noFill/>
          <a:ln w="6350">
            <a:solidFill>
              <a:srgbClr val="F8ED4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23882" y="5628382"/>
            <a:ext cx="1862563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kern="100" spc="48" dirty="0" smtClean="0">
                <a:solidFill>
                  <a:srgbClr val="F8ED43"/>
                </a:solidFill>
                <a:latin typeface="Fragment Mono" pitchFamily="34" charset="0"/>
                <a:ea typeface="Fragment Mono" pitchFamily="34" charset="-122"/>
                <a:cs typeface="Fragment Mono" pitchFamily="34" charset="-120"/>
              </a:rPr>
              <a:t>KONDURI SUMANASRI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09585" y="6053197"/>
            <a:ext cx="7518212" cy="205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200" dirty="0" smtClean="0">
                <a:solidFill>
                  <a:srgbClr val="BDB8D9"/>
                </a:solidFill>
                <a:latin typeface="Barlow" pitchFamily="34" charset="0"/>
              </a:rPr>
              <a:t>VIGNAN UNIVERITY</a:t>
            </a:r>
            <a:endParaRPr lang="en-US" sz="1200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6527" y="166214"/>
            <a:ext cx="4420260" cy="131965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0658"/>
            <a:ext cx="11582110" cy="1675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kern="100" spc="88" dirty="0">
                <a:solidFill>
                  <a:srgbClr val="C7D14F"/>
                </a:solidFill>
                <a:latin typeface="Fragment Mono" pitchFamily="34" charset="0"/>
                <a:ea typeface="Fragment Mono" pitchFamily="34" charset="-122"/>
                <a:cs typeface="Fragment Mono" pitchFamily="34" charset="-120"/>
              </a:rPr>
              <a:t>THE CORE DISTINCTION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9585" y="881955"/>
            <a:ext cx="10972526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000" kern="100" spc="-15" dirty="0">
                <a:solidFill>
                  <a:srgbClr val="F8ED43"/>
                </a:solidFill>
                <a:latin typeface="Saira Semi Condensed ExtraBold" pitchFamily="34" charset="0"/>
                <a:ea typeface="Saira Semi Condensed ExtraBold" pitchFamily="34" charset="-122"/>
                <a:cs typeface="Saira Semi Condensed ExtraBold" pitchFamily="34" charset="-120"/>
              </a:rPr>
              <a:t>Generative AI creates new content; traditional AI only classifies or predicts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9585" y="1851124"/>
            <a:ext cx="1158211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04800" indent="-304800" algn="l">
              <a:lnSpc>
                <a:spcPct val="121000"/>
              </a:lnSpc>
              <a:buSzPct val="100000"/>
              <a:buChar char="•"/>
            </a:pPr>
            <a:r>
              <a:rPr lang="en-US" sz="1500" dirty="0">
                <a:solidFill>
                  <a:srgbClr val="F3F1F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Generative models learn </a:t>
            </a:r>
            <a:r>
              <a:rPr lang="en-US" sz="1500" b="1" dirty="0">
                <a:solidFill>
                  <a:srgbClr val="F3F1F8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data distributions</a:t>
            </a:r>
            <a:r>
              <a:rPr lang="en-US" sz="1500" dirty="0">
                <a:solidFill>
                  <a:srgbClr val="F3F1F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to produce text, images, audio, and code.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09585" y="2369542"/>
            <a:ext cx="5257668" cy="3629620"/>
          </a:xfrm>
          <a:prstGeom prst="roundRect">
            <a:avLst>
              <a:gd name="adj" fmla="val 787"/>
            </a:avLst>
          </a:prstGeom>
          <a:noFill/>
          <a:ln w="25399">
            <a:solidFill>
              <a:srgbClr val="948D1E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2674342"/>
            <a:ext cx="476238" cy="4762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377" y="3344267"/>
            <a:ext cx="4648084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000" dirty="0">
                <a:solidFill>
                  <a:srgbClr val="F8ED43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Traditional AI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914377" y="3788767"/>
            <a:ext cx="1549361" cy="762000"/>
          </a:xfrm>
          <a:prstGeom prst="rect">
            <a:avLst/>
          </a:prstGeom>
          <a:solidFill>
            <a:srgbClr val="948D1E"/>
          </a:solidFill>
          <a:ln/>
        </p:spPr>
      </p:sp>
      <p:sp>
        <p:nvSpPr>
          <p:cNvPr id="9" name="Shape 6"/>
          <p:cNvSpPr/>
          <p:nvPr/>
        </p:nvSpPr>
        <p:spPr>
          <a:xfrm>
            <a:off x="914377" y="3788767"/>
            <a:ext cx="1549361" cy="762000"/>
          </a:xfrm>
          <a:prstGeom prst="rect">
            <a:avLst/>
          </a:prstGeom>
          <a:solidFill>
            <a:srgbClr val="7B7405"/>
          </a:solidFill>
          <a:ln/>
        </p:spPr>
      </p:sp>
      <p:sp>
        <p:nvSpPr>
          <p:cNvPr id="10" name="Text 7"/>
          <p:cNvSpPr/>
          <p:nvPr/>
        </p:nvSpPr>
        <p:spPr>
          <a:xfrm>
            <a:off x="1638557" y="4026892"/>
            <a:ext cx="710488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2250" dirty="0">
                <a:solidFill>
                  <a:srgbClr val="FFFFFF"/>
                </a:solidFill>
                <a:latin typeface="Barlow SemiBold" pitchFamily="34" charset="0"/>
                <a:ea typeface="Barlow SemiBold" pitchFamily="34" charset="-122"/>
                <a:cs typeface="Barlow SemiBold" pitchFamily="34" charset="-120"/>
              </a:rPr>
              <a:t>1</a:t>
            </a:r>
            <a:endParaRPr lang="en-US" sz="2250" dirty="0"/>
          </a:p>
        </p:txBody>
      </p:sp>
      <p:sp>
        <p:nvSpPr>
          <p:cNvPr id="11" name="Text 8"/>
          <p:cNvSpPr/>
          <p:nvPr/>
        </p:nvSpPr>
        <p:spPr>
          <a:xfrm>
            <a:off x="1104872" y="4641890"/>
            <a:ext cx="1168371" cy="264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F8ED43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Input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463738" y="3788767"/>
            <a:ext cx="1549361" cy="762000"/>
          </a:xfrm>
          <a:prstGeom prst="rect">
            <a:avLst/>
          </a:prstGeom>
          <a:solidFill>
            <a:srgbClr val="948D1E"/>
          </a:solidFill>
          <a:ln/>
        </p:spPr>
      </p:sp>
      <p:sp>
        <p:nvSpPr>
          <p:cNvPr id="13" name="Shape 10"/>
          <p:cNvSpPr/>
          <p:nvPr/>
        </p:nvSpPr>
        <p:spPr>
          <a:xfrm>
            <a:off x="2463738" y="3788767"/>
            <a:ext cx="1549361" cy="762000"/>
          </a:xfrm>
          <a:prstGeom prst="rect">
            <a:avLst/>
          </a:prstGeom>
          <a:solidFill>
            <a:srgbClr val="7B7405"/>
          </a:solidFill>
          <a:ln/>
        </p:spPr>
      </p:sp>
      <p:sp>
        <p:nvSpPr>
          <p:cNvPr id="14" name="Text 11"/>
          <p:cNvSpPr/>
          <p:nvPr/>
        </p:nvSpPr>
        <p:spPr>
          <a:xfrm>
            <a:off x="3159641" y="4026892"/>
            <a:ext cx="767041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2250" dirty="0">
                <a:solidFill>
                  <a:srgbClr val="FFFFFF"/>
                </a:solidFill>
                <a:latin typeface="Barlow SemiBold" pitchFamily="34" charset="0"/>
                <a:ea typeface="Barlow SemiBold" pitchFamily="34" charset="-122"/>
                <a:cs typeface="Barlow SemiBold" pitchFamily="34" charset="-120"/>
              </a:rPr>
              <a:t>2</a:t>
            </a:r>
            <a:endParaRPr lang="en-US" sz="2250" dirty="0"/>
          </a:p>
        </p:txBody>
      </p:sp>
      <p:sp>
        <p:nvSpPr>
          <p:cNvPr id="15" name="Text 12"/>
          <p:cNvSpPr/>
          <p:nvPr/>
        </p:nvSpPr>
        <p:spPr>
          <a:xfrm>
            <a:off x="2654234" y="4641890"/>
            <a:ext cx="1168371" cy="264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F8ED43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Classifier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4013100" y="3788767"/>
            <a:ext cx="1549361" cy="762000"/>
          </a:xfrm>
          <a:prstGeom prst="rect">
            <a:avLst/>
          </a:prstGeom>
          <a:solidFill>
            <a:srgbClr val="948D1E"/>
          </a:solidFill>
          <a:ln/>
        </p:spPr>
      </p:sp>
      <p:sp>
        <p:nvSpPr>
          <p:cNvPr id="17" name="Shape 14"/>
          <p:cNvSpPr/>
          <p:nvPr/>
        </p:nvSpPr>
        <p:spPr>
          <a:xfrm>
            <a:off x="4013100" y="3788767"/>
            <a:ext cx="1549361" cy="762000"/>
          </a:xfrm>
          <a:prstGeom prst="rect">
            <a:avLst/>
          </a:prstGeom>
          <a:solidFill>
            <a:srgbClr val="7B7405"/>
          </a:solidFill>
          <a:ln/>
        </p:spPr>
      </p:sp>
      <p:sp>
        <p:nvSpPr>
          <p:cNvPr id="18" name="Text 15"/>
          <p:cNvSpPr/>
          <p:nvPr/>
        </p:nvSpPr>
        <p:spPr>
          <a:xfrm>
            <a:off x="4711880" y="4026892"/>
            <a:ext cx="76138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2250" dirty="0">
                <a:solidFill>
                  <a:srgbClr val="FFFFFF"/>
                </a:solidFill>
                <a:latin typeface="Barlow SemiBold" pitchFamily="34" charset="0"/>
                <a:ea typeface="Barlow SemiBold" pitchFamily="34" charset="-122"/>
                <a:cs typeface="Barlow SemiBold" pitchFamily="34" charset="-120"/>
              </a:rPr>
              <a:t>3</a:t>
            </a:r>
            <a:endParaRPr lang="en-US" sz="2250" dirty="0"/>
          </a:p>
        </p:txBody>
      </p:sp>
      <p:sp>
        <p:nvSpPr>
          <p:cNvPr id="19" name="Text 16"/>
          <p:cNvSpPr/>
          <p:nvPr/>
        </p:nvSpPr>
        <p:spPr>
          <a:xfrm>
            <a:off x="4203595" y="4641890"/>
            <a:ext cx="1168371" cy="264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F8ED43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Label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914377" y="5199856"/>
            <a:ext cx="4952876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04800" indent="-304800" algn="l">
              <a:lnSpc>
                <a:spcPct val="121000"/>
              </a:lnSpc>
              <a:buSzPct val="100000"/>
              <a:buChar char="•"/>
            </a:pPr>
            <a:r>
              <a:rPr lang="en-US" sz="1500" dirty="0">
                <a:solidFill>
                  <a:srgbClr val="F3F1F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An email becomes </a:t>
            </a:r>
            <a:r>
              <a:rPr lang="en-US" sz="1500" b="1" dirty="0">
                <a:solidFill>
                  <a:srgbClr val="F3F1F8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spam or not spam</a:t>
            </a:r>
            <a:r>
              <a:rPr lang="en-US" sz="1500" dirty="0">
                <a:solidFill>
                  <a:srgbClr val="F3F1F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.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6324442" y="2369542"/>
            <a:ext cx="5257668" cy="3629620"/>
          </a:xfrm>
          <a:prstGeom prst="rect">
            <a:avLst/>
          </a:prstGeom>
          <a:solidFill>
            <a:srgbClr val="40456A"/>
          </a:solidFill>
          <a:ln/>
        </p:spPr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3835" y="2648942"/>
            <a:ext cx="476238" cy="47625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6603835" y="3318867"/>
            <a:ext cx="4698882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000" dirty="0">
                <a:solidFill>
                  <a:srgbClr val="F3F1F8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Generative AI</a:t>
            </a:r>
            <a:endParaRPr lang="en-US" sz="2000" dirty="0"/>
          </a:p>
        </p:txBody>
      </p:sp>
      <p:sp>
        <p:nvSpPr>
          <p:cNvPr id="24" name="Shape 20"/>
          <p:cNvSpPr/>
          <p:nvPr/>
        </p:nvSpPr>
        <p:spPr>
          <a:xfrm>
            <a:off x="6603835" y="3763367"/>
            <a:ext cx="1566228" cy="762000"/>
          </a:xfrm>
          <a:prstGeom prst="rect">
            <a:avLst/>
          </a:prstGeom>
          <a:solidFill>
            <a:srgbClr val="948D1E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3835" y="3763367"/>
            <a:ext cx="1566228" cy="762000"/>
          </a:xfrm>
          <a:prstGeom prst="rect">
            <a:avLst/>
          </a:prstGeom>
          <a:solidFill>
            <a:srgbClr val="7B7405"/>
          </a:solidFill>
          <a:ln/>
        </p:spPr>
      </p:sp>
      <p:sp>
        <p:nvSpPr>
          <p:cNvPr id="26" name="Text 22"/>
          <p:cNvSpPr/>
          <p:nvPr/>
        </p:nvSpPr>
        <p:spPr>
          <a:xfrm>
            <a:off x="7336448" y="4001492"/>
            <a:ext cx="710488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2250" dirty="0">
                <a:solidFill>
                  <a:srgbClr val="FFFFFF"/>
                </a:solidFill>
                <a:latin typeface="Barlow SemiBold" pitchFamily="34" charset="0"/>
                <a:ea typeface="Barlow SemiBold" pitchFamily="34" charset="-122"/>
                <a:cs typeface="Barlow SemiBold" pitchFamily="34" charset="-120"/>
              </a:rPr>
              <a:t>1</a:t>
            </a:r>
            <a:endParaRPr lang="en-US" sz="2250" dirty="0"/>
          </a:p>
        </p:txBody>
      </p:sp>
      <p:sp>
        <p:nvSpPr>
          <p:cNvPr id="27" name="Text 23"/>
          <p:cNvSpPr/>
          <p:nvPr/>
        </p:nvSpPr>
        <p:spPr>
          <a:xfrm>
            <a:off x="6794330" y="4616490"/>
            <a:ext cx="1185238" cy="264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F3F1F8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Prompt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8170063" y="3763367"/>
            <a:ext cx="1566327" cy="762000"/>
          </a:xfrm>
          <a:prstGeom prst="rect">
            <a:avLst/>
          </a:prstGeom>
          <a:solidFill>
            <a:srgbClr val="948D1E"/>
          </a:solidFill>
          <a:ln/>
        </p:spPr>
      </p:sp>
      <p:sp>
        <p:nvSpPr>
          <p:cNvPr id="29" name="Shape 25"/>
          <p:cNvSpPr/>
          <p:nvPr/>
        </p:nvSpPr>
        <p:spPr>
          <a:xfrm>
            <a:off x="8170063" y="3763367"/>
            <a:ext cx="1566327" cy="762000"/>
          </a:xfrm>
          <a:prstGeom prst="rect">
            <a:avLst/>
          </a:prstGeom>
          <a:solidFill>
            <a:srgbClr val="7B7405"/>
          </a:solidFill>
          <a:ln/>
        </p:spPr>
      </p:sp>
      <p:sp>
        <p:nvSpPr>
          <p:cNvPr id="30" name="Text 26"/>
          <p:cNvSpPr/>
          <p:nvPr/>
        </p:nvSpPr>
        <p:spPr>
          <a:xfrm>
            <a:off x="8874498" y="4001492"/>
            <a:ext cx="767041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2250" dirty="0">
                <a:solidFill>
                  <a:srgbClr val="FFFFFF"/>
                </a:solidFill>
                <a:latin typeface="Barlow SemiBold" pitchFamily="34" charset="0"/>
                <a:ea typeface="Barlow SemiBold" pitchFamily="34" charset="-122"/>
                <a:cs typeface="Barlow SemiBold" pitchFamily="34" charset="-120"/>
              </a:rPr>
              <a:t>2</a:t>
            </a:r>
            <a:endParaRPr lang="en-US" sz="2250" dirty="0"/>
          </a:p>
        </p:txBody>
      </p:sp>
      <p:sp>
        <p:nvSpPr>
          <p:cNvPr id="31" name="Text 27"/>
          <p:cNvSpPr/>
          <p:nvPr/>
        </p:nvSpPr>
        <p:spPr>
          <a:xfrm>
            <a:off x="8360558" y="4616490"/>
            <a:ext cx="1185337" cy="264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F3F1F8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Model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9736390" y="3763367"/>
            <a:ext cx="1566327" cy="762000"/>
          </a:xfrm>
          <a:prstGeom prst="rect">
            <a:avLst/>
          </a:prstGeom>
          <a:solidFill>
            <a:srgbClr val="948D1E"/>
          </a:solidFill>
          <a:ln/>
        </p:spPr>
      </p:sp>
      <p:sp>
        <p:nvSpPr>
          <p:cNvPr id="33" name="Shape 29"/>
          <p:cNvSpPr/>
          <p:nvPr/>
        </p:nvSpPr>
        <p:spPr>
          <a:xfrm>
            <a:off x="9736390" y="3763367"/>
            <a:ext cx="1566327" cy="762000"/>
          </a:xfrm>
          <a:prstGeom prst="rect">
            <a:avLst/>
          </a:prstGeom>
          <a:solidFill>
            <a:srgbClr val="7B7405"/>
          </a:solidFill>
          <a:ln/>
        </p:spPr>
      </p:sp>
      <p:sp>
        <p:nvSpPr>
          <p:cNvPr id="34" name="Text 30"/>
          <p:cNvSpPr/>
          <p:nvPr/>
        </p:nvSpPr>
        <p:spPr>
          <a:xfrm>
            <a:off x="10443604" y="4001492"/>
            <a:ext cx="76138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2250" dirty="0">
                <a:solidFill>
                  <a:srgbClr val="FFFFFF"/>
                </a:solidFill>
                <a:latin typeface="Barlow SemiBold" pitchFamily="34" charset="0"/>
                <a:ea typeface="Barlow SemiBold" pitchFamily="34" charset="-122"/>
                <a:cs typeface="Barlow SemiBold" pitchFamily="34" charset="-120"/>
              </a:rPr>
              <a:t>3</a:t>
            </a:r>
            <a:endParaRPr lang="en-US" sz="2250" dirty="0"/>
          </a:p>
        </p:txBody>
      </p:sp>
      <p:sp>
        <p:nvSpPr>
          <p:cNvPr id="35" name="Text 31"/>
          <p:cNvSpPr/>
          <p:nvPr/>
        </p:nvSpPr>
        <p:spPr>
          <a:xfrm>
            <a:off x="9926885" y="4616490"/>
            <a:ext cx="1185337" cy="264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F3F1F8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New content</a:t>
            </a:r>
            <a:endParaRPr lang="en-US" sz="1600" dirty="0"/>
          </a:p>
        </p:txBody>
      </p:sp>
      <p:sp>
        <p:nvSpPr>
          <p:cNvPr id="36" name="Text 32"/>
          <p:cNvSpPr/>
          <p:nvPr/>
        </p:nvSpPr>
        <p:spPr>
          <a:xfrm>
            <a:off x="6603835" y="5174456"/>
            <a:ext cx="4698882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304800" indent="-304800" algn="l">
              <a:lnSpc>
                <a:spcPct val="121000"/>
              </a:lnSpc>
              <a:buSzPct val="100000"/>
              <a:buChar char="•"/>
            </a:pPr>
            <a:r>
              <a:rPr lang="en-US" sz="1500" b="1" dirty="0">
                <a:solidFill>
                  <a:srgbClr val="F3F1F8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ChatGPT</a:t>
            </a:r>
            <a:r>
              <a:rPr lang="en-US" sz="1500" dirty="0">
                <a:solidFill>
                  <a:srgbClr val="F3F1F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writes essays, </a:t>
            </a:r>
            <a:r>
              <a:rPr lang="en-US" sz="1500" b="1" dirty="0">
                <a:solidFill>
                  <a:srgbClr val="F3F1F8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DALL·E</a:t>
            </a:r>
            <a:r>
              <a:rPr lang="en-US" sz="1500" dirty="0">
                <a:solidFill>
                  <a:srgbClr val="F3F1F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paints images, and </a:t>
            </a:r>
            <a:r>
              <a:rPr lang="en-US" sz="1500" b="1" dirty="0">
                <a:solidFill>
                  <a:srgbClr val="F3F1F8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Copilot</a:t>
            </a:r>
            <a:r>
              <a:rPr lang="en-US" sz="1500" dirty="0">
                <a:solidFill>
                  <a:srgbClr val="F3F1F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writes code.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0658"/>
            <a:ext cx="11582110" cy="1675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kern="100" spc="88" dirty="0">
                <a:solidFill>
                  <a:srgbClr val="C7D14F"/>
                </a:solidFill>
                <a:latin typeface="Fragment Mono" pitchFamily="34" charset="0"/>
                <a:ea typeface="Fragment Mono" pitchFamily="34" charset="-122"/>
                <a:cs typeface="Fragment Mono" pitchFamily="34" charset="-120"/>
              </a:rPr>
              <a:t>LEARNING → INFERENCE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9585" y="881955"/>
            <a:ext cx="109725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000" kern="100" spc="-15" dirty="0">
                <a:solidFill>
                  <a:srgbClr val="F8ED43"/>
                </a:solidFill>
                <a:latin typeface="Saira Semi Condensed ExtraBold" pitchFamily="34" charset="0"/>
                <a:ea typeface="Saira Semi Condensed ExtraBold" pitchFamily="34" charset="-122"/>
                <a:cs typeface="Saira Semi Condensed ExtraBold" pitchFamily="34" charset="-120"/>
              </a:rPr>
              <a:t>From data to content: the generative AI pipeline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09585" y="1939032"/>
            <a:ext cx="330192" cy="330200"/>
          </a:xfrm>
          <a:prstGeom prst="ellipse">
            <a:avLst/>
          </a:prstGeom>
          <a:solidFill>
            <a:srgbClr val="F8ED43"/>
          </a:solidFill>
          <a:ln/>
        </p:spPr>
      </p:sp>
      <p:sp>
        <p:nvSpPr>
          <p:cNvPr id="5" name="Text 3"/>
          <p:cNvSpPr/>
          <p:nvPr/>
        </p:nvSpPr>
        <p:spPr>
          <a:xfrm>
            <a:off x="699276" y="2021582"/>
            <a:ext cx="76039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09585" y="2345432"/>
            <a:ext cx="2042069" cy="19050"/>
          </a:xfrm>
          <a:prstGeom prst="rect">
            <a:avLst/>
          </a:prstGeom>
          <a:solidFill>
            <a:srgbClr val="F8ED43"/>
          </a:solidFill>
          <a:ln/>
        </p:spPr>
      </p:sp>
      <p:sp>
        <p:nvSpPr>
          <p:cNvPr id="7" name="Text 5"/>
          <p:cNvSpPr/>
          <p:nvPr/>
        </p:nvSpPr>
        <p:spPr>
          <a:xfrm>
            <a:off x="609585" y="2501007"/>
            <a:ext cx="2042069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000" dirty="0">
                <a:solidFill>
                  <a:srgbClr val="F8ED43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Data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09585" y="2952651"/>
            <a:ext cx="2042069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304800" indent="-304800" algn="l">
              <a:lnSpc>
                <a:spcPct val="121000"/>
              </a:lnSpc>
              <a:buSzPct val="100000"/>
              <a:buChar char="•"/>
            </a:pPr>
            <a:r>
              <a:rPr lang="en-US" sz="1500" dirty="0">
                <a:solidFill>
                  <a:srgbClr val="F3F1F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Large text, image, and audio corpora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804050" y="1939032"/>
            <a:ext cx="330192" cy="330200"/>
          </a:xfrm>
          <a:prstGeom prst="ellipse">
            <a:avLst/>
          </a:prstGeom>
          <a:solidFill>
            <a:srgbClr val="F8ED43"/>
          </a:solidFill>
          <a:ln/>
        </p:spPr>
      </p:sp>
      <p:sp>
        <p:nvSpPr>
          <p:cNvPr id="10" name="Text 8"/>
          <p:cNvSpPr/>
          <p:nvPr/>
        </p:nvSpPr>
        <p:spPr>
          <a:xfrm>
            <a:off x="2875784" y="2021582"/>
            <a:ext cx="79621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804050" y="2345432"/>
            <a:ext cx="2042069" cy="19050"/>
          </a:xfrm>
          <a:prstGeom prst="rect">
            <a:avLst/>
          </a:prstGeom>
          <a:solidFill>
            <a:srgbClr val="F8ED43"/>
          </a:solidFill>
          <a:ln/>
        </p:spPr>
      </p:sp>
      <p:sp>
        <p:nvSpPr>
          <p:cNvPr id="12" name="Text 10"/>
          <p:cNvSpPr/>
          <p:nvPr/>
        </p:nvSpPr>
        <p:spPr>
          <a:xfrm>
            <a:off x="2804050" y="2501007"/>
            <a:ext cx="2042069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000" dirty="0">
                <a:solidFill>
                  <a:srgbClr val="F8ED43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Training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804050" y="2952651"/>
            <a:ext cx="2042069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304800" indent="-304800" algn="l">
              <a:lnSpc>
                <a:spcPct val="121000"/>
              </a:lnSpc>
              <a:buSzPct val="100000"/>
              <a:buChar char="•"/>
            </a:pPr>
            <a:r>
              <a:rPr lang="en-US" sz="1500" dirty="0">
                <a:solidFill>
                  <a:srgbClr val="F3F1F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Learn patterns by adjusting </a:t>
            </a:r>
            <a:r>
              <a:rPr lang="en-US" sz="1500" b="1" dirty="0">
                <a:solidFill>
                  <a:srgbClr val="F3F1F8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weights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998516" y="1939032"/>
            <a:ext cx="330192" cy="330200"/>
          </a:xfrm>
          <a:prstGeom prst="ellipse">
            <a:avLst/>
          </a:prstGeom>
          <a:solidFill>
            <a:srgbClr val="F8ED43"/>
          </a:solidFill>
          <a:ln/>
        </p:spPr>
      </p:sp>
      <p:sp>
        <p:nvSpPr>
          <p:cNvPr id="15" name="Text 13"/>
          <p:cNvSpPr/>
          <p:nvPr/>
        </p:nvSpPr>
        <p:spPr>
          <a:xfrm>
            <a:off x="5071936" y="2021582"/>
            <a:ext cx="79293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998516" y="2345432"/>
            <a:ext cx="2042069" cy="19050"/>
          </a:xfrm>
          <a:prstGeom prst="rect">
            <a:avLst/>
          </a:prstGeom>
          <a:solidFill>
            <a:srgbClr val="F8ED43"/>
          </a:solidFill>
          <a:ln/>
        </p:spPr>
      </p:sp>
      <p:sp>
        <p:nvSpPr>
          <p:cNvPr id="17" name="Text 15"/>
          <p:cNvSpPr/>
          <p:nvPr/>
        </p:nvSpPr>
        <p:spPr>
          <a:xfrm>
            <a:off x="4998516" y="2501007"/>
            <a:ext cx="2042168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000" dirty="0">
                <a:solidFill>
                  <a:srgbClr val="F8ED43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AI model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998516" y="2952651"/>
            <a:ext cx="2042168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304800" indent="-304800" algn="l">
              <a:lnSpc>
                <a:spcPct val="121000"/>
              </a:lnSpc>
              <a:buSzPct val="100000"/>
              <a:buChar char="•"/>
            </a:pPr>
            <a:r>
              <a:rPr lang="en-US" sz="1500" dirty="0">
                <a:solidFill>
                  <a:srgbClr val="F3F1F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 trained deep neural network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193080" y="1939032"/>
            <a:ext cx="330192" cy="330200"/>
          </a:xfrm>
          <a:prstGeom prst="ellipse">
            <a:avLst/>
          </a:prstGeom>
          <a:solidFill>
            <a:srgbClr val="F8ED43"/>
          </a:solidFill>
          <a:ln/>
        </p:spPr>
      </p:sp>
      <p:sp>
        <p:nvSpPr>
          <p:cNvPr id="20" name="Text 18"/>
          <p:cNvSpPr/>
          <p:nvPr/>
        </p:nvSpPr>
        <p:spPr>
          <a:xfrm>
            <a:off x="7261143" y="2021582"/>
            <a:ext cx="803652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04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193080" y="2345432"/>
            <a:ext cx="2042069" cy="19050"/>
          </a:xfrm>
          <a:prstGeom prst="rect">
            <a:avLst/>
          </a:prstGeom>
          <a:solidFill>
            <a:srgbClr val="F8ED43"/>
          </a:solidFill>
          <a:ln/>
        </p:spPr>
      </p:sp>
      <p:sp>
        <p:nvSpPr>
          <p:cNvPr id="22" name="Text 20"/>
          <p:cNvSpPr/>
          <p:nvPr/>
        </p:nvSpPr>
        <p:spPr>
          <a:xfrm>
            <a:off x="7193080" y="2501007"/>
            <a:ext cx="2042069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000" dirty="0">
                <a:solidFill>
                  <a:srgbClr val="F8ED43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User prompt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93080" y="2952651"/>
            <a:ext cx="2042069" cy="828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304800" indent="-304800" algn="l">
              <a:lnSpc>
                <a:spcPct val="121000"/>
              </a:lnSpc>
              <a:buSzPct val="100000"/>
              <a:buChar char="•"/>
            </a:pPr>
            <a:r>
              <a:rPr lang="en-US" sz="1500" dirty="0">
                <a:solidFill>
                  <a:srgbClr val="F3F1F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Instruction or context for generation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387546" y="1939032"/>
            <a:ext cx="330192" cy="330200"/>
          </a:xfrm>
          <a:prstGeom prst="ellipse">
            <a:avLst/>
          </a:prstGeom>
          <a:solidFill>
            <a:srgbClr val="F8ED43"/>
          </a:solidFill>
          <a:ln/>
        </p:spPr>
      </p:sp>
      <p:sp>
        <p:nvSpPr>
          <p:cNvPr id="25" name="Text 23"/>
          <p:cNvSpPr/>
          <p:nvPr/>
        </p:nvSpPr>
        <p:spPr>
          <a:xfrm>
            <a:off x="9461065" y="2021582"/>
            <a:ext cx="792738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05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387546" y="2345432"/>
            <a:ext cx="2042069" cy="19050"/>
          </a:xfrm>
          <a:prstGeom prst="rect">
            <a:avLst/>
          </a:prstGeom>
          <a:solidFill>
            <a:srgbClr val="F8ED43"/>
          </a:solidFill>
          <a:ln/>
        </p:spPr>
      </p:sp>
      <p:sp>
        <p:nvSpPr>
          <p:cNvPr id="27" name="Text 25"/>
          <p:cNvSpPr/>
          <p:nvPr/>
        </p:nvSpPr>
        <p:spPr>
          <a:xfrm>
            <a:off x="9387546" y="2501007"/>
            <a:ext cx="2042168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000" dirty="0">
                <a:solidFill>
                  <a:srgbClr val="F8ED43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Generated content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387546" y="3282851"/>
            <a:ext cx="2042168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304800" indent="-304800" algn="l">
              <a:lnSpc>
                <a:spcPct val="121000"/>
              </a:lnSpc>
              <a:buSzPct val="100000"/>
              <a:buChar char="•"/>
            </a:pPr>
            <a:r>
              <a:rPr lang="en-US" sz="1500" dirty="0">
                <a:solidFill>
                  <a:srgbClr val="F3F1F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New output </a:t>
            </a:r>
            <a:r>
              <a:rPr lang="en-US" sz="1500" b="1" dirty="0">
                <a:solidFill>
                  <a:srgbClr val="F3F1F8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sampled</a:t>
            </a:r>
            <a:r>
              <a:rPr lang="en-US" sz="1500" dirty="0">
                <a:solidFill>
                  <a:srgbClr val="F3F1F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from the model</a:t>
            </a:r>
            <a:endParaRPr lang="en-US" sz="1500" dirty="0"/>
          </a:p>
        </p:txBody>
      </p:sp>
      <p:pic>
        <p:nvPicPr>
          <p:cNvPr id="2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801" y="4183757"/>
            <a:ext cx="3809905" cy="1379141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063040" y="4399523"/>
            <a:ext cx="2350544" cy="105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650" kern="100" spc="-3" dirty="0">
                <a:solidFill>
                  <a:srgbClr val="000000"/>
                </a:solidFill>
                <a:latin typeface="Saira Semi Condensed ExtraBold" pitchFamily="34" charset="0"/>
                <a:ea typeface="Saira Semi Condensed ExtraBold" pitchFamily="34" charset="-122"/>
                <a:cs typeface="Saira Semi Condensed ExtraBold" pitchFamily="34" charset="-120"/>
              </a:rPr>
              <a:t>Input Layer</a:t>
            </a:r>
            <a:endParaRPr lang="en-US" sz="650" dirty="0"/>
          </a:p>
        </p:txBody>
      </p:sp>
      <p:sp>
        <p:nvSpPr>
          <p:cNvPr id="31" name="Text 28"/>
          <p:cNvSpPr/>
          <p:nvPr/>
        </p:nvSpPr>
        <p:spPr>
          <a:xfrm>
            <a:off x="1063040" y="4818593"/>
            <a:ext cx="2350544" cy="105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650" kern="100" spc="-3" dirty="0">
                <a:solidFill>
                  <a:srgbClr val="000000"/>
                </a:solidFill>
                <a:latin typeface="Saira Semi Condensed ExtraBold" pitchFamily="34" charset="0"/>
                <a:ea typeface="Saira Semi Condensed ExtraBold" pitchFamily="34" charset="-122"/>
                <a:cs typeface="Saira Semi Condensed ExtraBold" pitchFamily="34" charset="-120"/>
              </a:rPr>
              <a:t>Hidden Layers</a:t>
            </a:r>
            <a:endParaRPr lang="en-US" sz="650" dirty="0"/>
          </a:p>
        </p:txBody>
      </p:sp>
      <p:sp>
        <p:nvSpPr>
          <p:cNvPr id="32" name="Text 29"/>
          <p:cNvSpPr/>
          <p:nvPr/>
        </p:nvSpPr>
        <p:spPr>
          <a:xfrm>
            <a:off x="1063040" y="5233853"/>
            <a:ext cx="2350544" cy="105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650" kern="100" spc="-3" dirty="0">
                <a:solidFill>
                  <a:srgbClr val="000000"/>
                </a:solidFill>
                <a:latin typeface="Saira Semi Condensed ExtraBold" pitchFamily="34" charset="0"/>
                <a:ea typeface="Saira Semi Condensed ExtraBold" pitchFamily="34" charset="-122"/>
                <a:cs typeface="Saira Semi Condensed ExtraBold" pitchFamily="34" charset="-120"/>
              </a:rPr>
              <a:t>Output Layer</a:t>
            </a:r>
            <a:endParaRPr lang="en-US" sz="650" dirty="0"/>
          </a:p>
        </p:txBody>
      </p:sp>
      <p:sp>
        <p:nvSpPr>
          <p:cNvPr id="33" name="Text 30"/>
          <p:cNvSpPr/>
          <p:nvPr/>
        </p:nvSpPr>
        <p:spPr>
          <a:xfrm>
            <a:off x="5227110" y="4573290"/>
            <a:ext cx="6355000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04800" indent="-304800" algn="l">
              <a:lnSpc>
                <a:spcPct val="121000"/>
              </a:lnSpc>
              <a:buSzPct val="100000"/>
              <a:buChar char="•"/>
            </a:pPr>
            <a:r>
              <a:rPr lang="en-US" sz="1500" b="1" dirty="0">
                <a:solidFill>
                  <a:srgbClr val="F3F1F8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Neural networks</a:t>
            </a:r>
            <a:r>
              <a:rPr lang="en-US" sz="1500" dirty="0">
                <a:solidFill>
                  <a:srgbClr val="F3F1F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use layers of connected units to learn representations.</a:t>
            </a:r>
            <a:endParaRPr lang="en-US" sz="1500" dirty="0"/>
          </a:p>
          <a:p>
            <a:pPr marL="304800" indent="-304800" algn="l">
              <a:lnSpc>
                <a:spcPct val="121000"/>
              </a:lnSpc>
              <a:buSzPct val="100000"/>
              <a:buChar char="•"/>
            </a:pPr>
            <a:r>
              <a:rPr lang="en-US" sz="1500" b="1" dirty="0">
                <a:solidFill>
                  <a:srgbClr val="F3F1F8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Deep learning</a:t>
            </a:r>
            <a:r>
              <a:rPr lang="en-US" sz="1500" dirty="0">
                <a:solidFill>
                  <a:srgbClr val="F3F1F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uses many layers to learn features automatically.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4992166" y="4183757"/>
            <a:ext cx="12700" cy="1379141"/>
          </a:xfrm>
          <a:prstGeom prst="rect">
            <a:avLst/>
          </a:prstGeom>
          <a:solidFill>
            <a:srgbClr val="40456A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0658"/>
            <a:ext cx="11582110" cy="1675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kern="100" spc="88" dirty="0">
                <a:solidFill>
                  <a:srgbClr val="C7D14F"/>
                </a:solidFill>
                <a:latin typeface="Fragment Mono" pitchFamily="34" charset="0"/>
                <a:ea typeface="Fragment Mono" pitchFamily="34" charset="-122"/>
                <a:cs typeface="Fragment Mono" pitchFamily="34" charset="-120"/>
              </a:rPr>
              <a:t>OUTPUTS ACROSS MEDIA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9585" y="881955"/>
            <a:ext cx="109725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000" kern="100" spc="-15" dirty="0">
                <a:solidFill>
                  <a:srgbClr val="F8ED43"/>
                </a:solidFill>
                <a:latin typeface="Saira Semi Condensed ExtraBold" pitchFamily="34" charset="0"/>
                <a:ea typeface="Saira Semi Condensed ExtraBold" pitchFamily="34" charset="-122"/>
                <a:cs typeface="Saira Semi Condensed ExtraBold" pitchFamily="34" charset="-120"/>
              </a:rPr>
              <a:t>Five modalities, one idea: learn patterns, then generate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09585" y="1479352"/>
            <a:ext cx="419090" cy="419100"/>
          </a:xfrm>
          <a:prstGeom prst="ellipse">
            <a:avLst/>
          </a:prstGeom>
          <a:solidFill>
            <a:srgbClr val="F8ED43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308" y="1565077"/>
            <a:ext cx="247644" cy="2476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19170" y="1653976"/>
            <a:ext cx="640064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000" dirty="0">
                <a:solidFill>
                  <a:srgbClr val="F8ED43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Text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219170" y="2108954"/>
            <a:ext cx="6400640" cy="205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200" dirty="0">
                <a:solidFill>
                  <a:srgbClr val="BDB8D9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GPT-4, Gemini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09585" y="2456557"/>
            <a:ext cx="419090" cy="419100"/>
          </a:xfrm>
          <a:prstGeom prst="ellipse">
            <a:avLst/>
          </a:prstGeom>
          <a:solidFill>
            <a:srgbClr val="F8ED43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308" y="2542282"/>
            <a:ext cx="247644" cy="24765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19170" y="2631182"/>
            <a:ext cx="640064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000" dirty="0">
                <a:solidFill>
                  <a:srgbClr val="F8ED43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Image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1219170" y="3086160"/>
            <a:ext cx="6400640" cy="205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200" dirty="0">
                <a:solidFill>
                  <a:srgbClr val="BDB8D9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Stable Diffusion, Midjourney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09585" y="3433763"/>
            <a:ext cx="419090" cy="419100"/>
          </a:xfrm>
          <a:prstGeom prst="ellipse">
            <a:avLst/>
          </a:prstGeom>
          <a:solidFill>
            <a:srgbClr val="F8ED43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308" y="3519487"/>
            <a:ext cx="247644" cy="24765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19170" y="3608387"/>
            <a:ext cx="640064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000" dirty="0">
                <a:solidFill>
                  <a:srgbClr val="F8ED43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Audio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1219170" y="4063365"/>
            <a:ext cx="6400640" cy="205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200" dirty="0">
                <a:solidFill>
                  <a:srgbClr val="BDB8D9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Whisper-style speech; MusicLM music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09585" y="4410968"/>
            <a:ext cx="419090" cy="419100"/>
          </a:xfrm>
          <a:prstGeom prst="ellipse">
            <a:avLst/>
          </a:prstGeom>
          <a:solidFill>
            <a:srgbClr val="F8ED43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308" y="4496693"/>
            <a:ext cx="247644" cy="24765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19170" y="4585593"/>
            <a:ext cx="640064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000" dirty="0">
                <a:solidFill>
                  <a:srgbClr val="F8ED43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Video</a:t>
            </a:r>
            <a:endParaRPr lang="en-US" sz="2000" dirty="0"/>
          </a:p>
        </p:txBody>
      </p:sp>
      <p:sp>
        <p:nvSpPr>
          <p:cNvPr id="19" name="Text 13"/>
          <p:cNvSpPr/>
          <p:nvPr/>
        </p:nvSpPr>
        <p:spPr>
          <a:xfrm>
            <a:off x="1219170" y="5040570"/>
            <a:ext cx="6400640" cy="205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200" dirty="0">
                <a:solidFill>
                  <a:srgbClr val="BDB8D9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Sora, Runway Gen-2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609585" y="5388173"/>
            <a:ext cx="419090" cy="419100"/>
          </a:xfrm>
          <a:prstGeom prst="ellipse">
            <a:avLst/>
          </a:prstGeom>
          <a:solidFill>
            <a:srgbClr val="F8ED43"/>
          </a:solidFill>
          <a:ln/>
        </p:spPr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5308" y="5473898"/>
            <a:ext cx="247644" cy="24765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219170" y="5562798"/>
            <a:ext cx="640064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000" dirty="0">
                <a:solidFill>
                  <a:srgbClr val="F8ED43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Code</a:t>
            </a:r>
            <a:endParaRPr lang="en-US" sz="2000" dirty="0"/>
          </a:p>
        </p:txBody>
      </p:sp>
      <p:sp>
        <p:nvSpPr>
          <p:cNvPr id="23" name="Text 16"/>
          <p:cNvSpPr/>
          <p:nvPr/>
        </p:nvSpPr>
        <p:spPr>
          <a:xfrm>
            <a:off x="1219170" y="6017776"/>
            <a:ext cx="6400640" cy="205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200" dirty="0">
                <a:solidFill>
                  <a:srgbClr val="BDB8D9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GitHub Copilot</a:t>
            </a:r>
            <a:endParaRPr lang="en-US" sz="1200" dirty="0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76998" y="1443930"/>
            <a:ext cx="3505112" cy="48044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0658"/>
            <a:ext cx="11582110" cy="1675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kern="100" spc="88" dirty="0">
                <a:solidFill>
                  <a:srgbClr val="C7D14F"/>
                </a:solidFill>
                <a:latin typeface="Fragment Mono" pitchFamily="34" charset="0"/>
                <a:ea typeface="Fragment Mono" pitchFamily="34" charset="-122"/>
                <a:cs typeface="Fragment Mono" pitchFamily="34" charset="-120"/>
              </a:rPr>
              <a:t>INSIDE A LANGUAGE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9585" y="881955"/>
            <a:ext cx="109725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000" kern="100" spc="-15" dirty="0">
                <a:solidFill>
                  <a:srgbClr val="F8ED43"/>
                </a:solidFill>
                <a:latin typeface="Saira Semi Condensed ExtraBold" pitchFamily="34" charset="0"/>
                <a:ea typeface="Saira Semi Condensed ExtraBold" pitchFamily="34" charset="-122"/>
                <a:cs typeface="Saira Semi Condensed ExtraBold" pitchFamily="34" charset="-120"/>
              </a:rPr>
              <a:t>LLMs predict the next token using the Transformer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9585" y="1451074"/>
            <a:ext cx="5257668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304800" indent="-304800" algn="l">
              <a:lnSpc>
                <a:spcPct val="121000"/>
              </a:lnSpc>
              <a:buSzPct val="100000"/>
              <a:buChar char="•"/>
            </a:pPr>
            <a:r>
              <a:rPr lang="en-US" sz="1500" b="1" dirty="0">
                <a:solidFill>
                  <a:srgbClr val="F3F1F8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LLM</a:t>
            </a:r>
            <a:r>
              <a:rPr lang="en-US" sz="1500" dirty="0">
                <a:solidFill>
                  <a:srgbClr val="F3F1F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means a very large neural network trained on massive text corpora.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324442" y="1451074"/>
            <a:ext cx="5257668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304800" indent="-304800" algn="l">
              <a:lnSpc>
                <a:spcPct val="121000"/>
              </a:lnSpc>
              <a:buSzPct val="100000"/>
              <a:buChar char="•"/>
            </a:pPr>
            <a:r>
              <a:rPr lang="en-US" sz="1500" b="1" dirty="0">
                <a:solidFill>
                  <a:srgbClr val="F3F1F8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Tokens</a:t>
            </a:r>
            <a:r>
              <a:rPr lang="en-US" sz="1500" dirty="0">
                <a:solidFill>
                  <a:srgbClr val="F3F1F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are sub-word units; self-attention connects each token to its available context.</a:t>
            </a:r>
            <a:endParaRPr lang="en-US" sz="15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85" y="2414290"/>
            <a:ext cx="5574565" cy="3111401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09585" y="5943600"/>
            <a:ext cx="4540533" cy="304800"/>
          </a:xfrm>
          <a:prstGeom prst="rect">
            <a:avLst/>
          </a:prstGeom>
          <a:noFill/>
          <a:ln w="6350">
            <a:solidFill>
              <a:srgbClr val="F8ED4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23882" y="6005513"/>
            <a:ext cx="49215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kern="100" spc="48" dirty="0">
                <a:solidFill>
                  <a:srgbClr val="F8ED43"/>
                </a:solidFill>
                <a:latin typeface="Fragment Mono" pitchFamily="34" charset="0"/>
                <a:ea typeface="Fragment Mono" pitchFamily="34" charset="-122"/>
                <a:cs typeface="Fragment Mono" pitchFamily="34" charset="-120"/>
              </a:rPr>
              <a:t>Prompt → Tokenizer → Transformer → Response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0658"/>
            <a:ext cx="11582110" cy="1675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kern="100" spc="88" dirty="0">
                <a:solidFill>
                  <a:srgbClr val="C7D14F"/>
                </a:solidFill>
                <a:latin typeface="Fragment Mono" pitchFamily="34" charset="0"/>
                <a:ea typeface="Fragment Mono" pitchFamily="34" charset="-122"/>
                <a:cs typeface="Fragment Mono" pitchFamily="34" charset="-120"/>
              </a:rPr>
              <a:t>APPLICATIONS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9585" y="881955"/>
            <a:ext cx="109725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000" kern="100" spc="-15" dirty="0">
                <a:solidFill>
                  <a:srgbClr val="F8ED43"/>
                </a:solidFill>
                <a:latin typeface="Saira Semi Condensed ExtraBold" pitchFamily="34" charset="0"/>
                <a:ea typeface="Saira Semi Condensed ExtraBold" pitchFamily="34" charset="-122"/>
                <a:cs typeface="Saira Semi Condensed ExtraBold" pitchFamily="34" charset="-120"/>
              </a:rPr>
              <a:t>Generative AI is reshaping seven fields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09585" y="1367830"/>
            <a:ext cx="2590735" cy="1870571"/>
          </a:xfrm>
          <a:prstGeom prst="roundRect">
            <a:avLst>
              <a:gd name="adj" fmla="val 1528"/>
            </a:avLst>
          </a:prstGeom>
          <a:noFill/>
          <a:ln w="25399">
            <a:solidFill>
              <a:srgbClr val="948D1E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78" y="1621830"/>
            <a:ext cx="380990" cy="381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3578" y="2128877"/>
            <a:ext cx="2082748" cy="264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F8ED43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Education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63578" y="2525078"/>
            <a:ext cx="2336742" cy="205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200" dirty="0">
                <a:solidFill>
                  <a:srgbClr val="BDB8D9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Personalized tutoring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05112" y="1367830"/>
            <a:ext cx="2438339" cy="1870571"/>
          </a:xfrm>
          <a:prstGeom prst="roundRect">
            <a:avLst>
              <a:gd name="adj" fmla="val 1528"/>
            </a:avLst>
          </a:prstGeom>
          <a:noFill/>
          <a:ln w="25399">
            <a:solidFill>
              <a:srgbClr val="948D1E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9106" y="1621830"/>
            <a:ext cx="380990" cy="3810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759106" y="2128877"/>
            <a:ext cx="1930352" cy="264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F8ED43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Healthcare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3759106" y="2525078"/>
            <a:ext cx="2184345" cy="205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200" dirty="0">
                <a:solidFill>
                  <a:srgbClr val="BDB8D9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Drug discovery, clinical notes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48244" y="1367830"/>
            <a:ext cx="2438339" cy="1870571"/>
          </a:xfrm>
          <a:prstGeom prst="roundRect">
            <a:avLst>
              <a:gd name="adj" fmla="val 1528"/>
            </a:avLst>
          </a:prstGeom>
          <a:noFill/>
          <a:ln w="25399">
            <a:solidFill>
              <a:srgbClr val="948D1E"/>
            </a:solidFill>
            <a:prstDash val="solid"/>
          </a:ln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2237" y="1621830"/>
            <a:ext cx="380990" cy="3810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02237" y="2128877"/>
            <a:ext cx="193035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F8ED43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Software development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502237" y="2789198"/>
            <a:ext cx="2184345" cy="205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200" dirty="0">
                <a:solidFill>
                  <a:srgbClr val="BDB8D9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Code assistants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991375" y="1367830"/>
            <a:ext cx="2590735" cy="1870571"/>
          </a:xfrm>
          <a:prstGeom prst="roundRect">
            <a:avLst>
              <a:gd name="adj" fmla="val 1528"/>
            </a:avLst>
          </a:prstGeom>
          <a:noFill/>
          <a:ln w="25399">
            <a:solidFill>
              <a:srgbClr val="948D1E"/>
            </a:solidFill>
            <a:prstDash val="solid"/>
          </a:ln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45369" y="1621830"/>
            <a:ext cx="380990" cy="3810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245369" y="2128877"/>
            <a:ext cx="2082748" cy="264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F8ED43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Content creation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9245369" y="2525078"/>
            <a:ext cx="2336742" cy="205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200" dirty="0">
                <a:solidFill>
                  <a:srgbClr val="BDB8D9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Text, images, video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609585" y="3543201"/>
            <a:ext cx="2590735" cy="2590800"/>
          </a:xfrm>
          <a:prstGeom prst="roundRect">
            <a:avLst>
              <a:gd name="adj" fmla="val 1103"/>
            </a:avLst>
          </a:prstGeom>
          <a:noFill/>
          <a:ln w="25399">
            <a:solidFill>
              <a:srgbClr val="948D1E"/>
            </a:solidFill>
            <a:prstDash val="solid"/>
          </a:ln>
        </p:spPr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3578" y="3797201"/>
            <a:ext cx="380990" cy="3810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863578" y="4304248"/>
            <a:ext cx="2082748" cy="264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F8ED43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Business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863578" y="4700449"/>
            <a:ext cx="2336742" cy="205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200" dirty="0">
                <a:solidFill>
                  <a:srgbClr val="BDB8D9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Reports, marketing, analytics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3505112" y="3543201"/>
            <a:ext cx="2438339" cy="2590800"/>
          </a:xfrm>
          <a:prstGeom prst="roundRect">
            <a:avLst>
              <a:gd name="adj" fmla="val 1172"/>
            </a:avLst>
          </a:prstGeom>
          <a:noFill/>
          <a:ln w="25399">
            <a:solidFill>
              <a:srgbClr val="948D1E"/>
            </a:solidFill>
            <a:prstDash val="solid"/>
          </a:ln>
        </p:spPr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59106" y="3797201"/>
            <a:ext cx="380990" cy="38100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759106" y="4304248"/>
            <a:ext cx="1930352" cy="264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F8ED43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Customer support</a:t>
            </a:r>
            <a:endParaRPr lang="en-US" sz="1600" dirty="0"/>
          </a:p>
        </p:txBody>
      </p:sp>
      <p:sp>
        <p:nvSpPr>
          <p:cNvPr id="27" name="Text 19"/>
          <p:cNvSpPr/>
          <p:nvPr/>
        </p:nvSpPr>
        <p:spPr>
          <a:xfrm>
            <a:off x="3759106" y="4700449"/>
            <a:ext cx="2184345" cy="205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200" dirty="0">
                <a:solidFill>
                  <a:srgbClr val="BDB8D9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Intelligent chatbots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6248244" y="3543201"/>
            <a:ext cx="2438339" cy="2590800"/>
          </a:xfrm>
          <a:prstGeom prst="roundRect">
            <a:avLst>
              <a:gd name="adj" fmla="val 1172"/>
            </a:avLst>
          </a:prstGeom>
          <a:noFill/>
          <a:ln w="25399">
            <a:solidFill>
              <a:srgbClr val="948D1E"/>
            </a:solidFill>
            <a:prstDash val="solid"/>
          </a:ln>
        </p:spPr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02237" y="3797201"/>
            <a:ext cx="380990" cy="381000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502237" y="4304248"/>
            <a:ext cx="1930352" cy="264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F8ED43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Scientific research</a:t>
            </a:r>
            <a:endParaRPr lang="en-US" sz="1600" dirty="0"/>
          </a:p>
        </p:txBody>
      </p:sp>
      <p:sp>
        <p:nvSpPr>
          <p:cNvPr id="31" name="Text 22"/>
          <p:cNvSpPr/>
          <p:nvPr/>
        </p:nvSpPr>
        <p:spPr>
          <a:xfrm>
            <a:off x="6502237" y="4700449"/>
            <a:ext cx="1930352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200" dirty="0">
                <a:solidFill>
                  <a:srgbClr val="BDB8D9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Protein design, literature review</a:t>
            </a:r>
            <a:endParaRPr lang="en-US" sz="1200" dirty="0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91375" y="3543201"/>
            <a:ext cx="2590735" cy="2590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0658"/>
            <a:ext cx="11582110" cy="1675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kern="100" spc="88" dirty="0">
                <a:solidFill>
                  <a:srgbClr val="C7D14F"/>
                </a:solidFill>
                <a:latin typeface="Fragment Mono" pitchFamily="34" charset="0"/>
                <a:ea typeface="Fragment Mono" pitchFamily="34" charset="-122"/>
                <a:cs typeface="Fragment Mono" pitchFamily="34" charset="-120"/>
              </a:rPr>
              <a:t>VALUE AND RESPONSIBILITY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9585" y="881955"/>
            <a:ext cx="109725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000" kern="100" spc="-15" dirty="0">
                <a:solidFill>
                  <a:srgbClr val="F8ED43"/>
                </a:solidFill>
                <a:latin typeface="Saira Semi Condensed ExtraBold" pitchFamily="34" charset="0"/>
                <a:ea typeface="Saira Semi Condensed ExtraBold" pitchFamily="34" charset="-122"/>
                <a:cs typeface="Saira Semi Condensed ExtraBold" pitchFamily="34" charset="-120"/>
              </a:rPr>
              <a:t>Powerful benefits come with real risks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09585" y="1787227"/>
            <a:ext cx="5257668" cy="3622675"/>
          </a:xfrm>
          <a:prstGeom prst="rect">
            <a:avLst/>
          </a:prstGeom>
          <a:noFill/>
          <a:ln w="25399">
            <a:solidFill>
              <a:srgbClr val="81C995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776" y="2117427"/>
            <a:ext cx="476238" cy="4762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39776" y="2787352"/>
            <a:ext cx="4597285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000" dirty="0">
                <a:solidFill>
                  <a:srgbClr val="81C995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Advantages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939776" y="3231852"/>
            <a:ext cx="4597285" cy="1247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04800" indent="-304800" algn="l">
              <a:lnSpc>
                <a:spcPct val="121000"/>
              </a:lnSpc>
              <a:buSzPct val="100000"/>
              <a:buChar char="•"/>
            </a:pPr>
            <a:r>
              <a:rPr lang="en-US" sz="1500" b="1" dirty="0">
                <a:solidFill>
                  <a:srgbClr val="F3F1F8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Productivity</a:t>
            </a:r>
            <a:r>
              <a:rPr lang="en-US" sz="1500" dirty="0">
                <a:solidFill>
                  <a:srgbClr val="F3F1F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through faster drafting and iteration</a:t>
            </a:r>
            <a:endParaRPr lang="en-US" sz="1500" dirty="0"/>
          </a:p>
          <a:p>
            <a:pPr marL="304800" indent="-304800" algn="l">
              <a:lnSpc>
                <a:spcPct val="121000"/>
              </a:lnSpc>
              <a:buSzPct val="100000"/>
              <a:buChar char="•"/>
            </a:pPr>
            <a:r>
              <a:rPr lang="en-US" sz="1500" b="1" dirty="0">
                <a:solidFill>
                  <a:srgbClr val="F3F1F8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Automation</a:t>
            </a:r>
            <a:r>
              <a:rPr lang="en-US" sz="1500" dirty="0">
                <a:solidFill>
                  <a:srgbClr val="F3F1F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of repetitive content tasks</a:t>
            </a:r>
            <a:endParaRPr lang="en-US" sz="1500" dirty="0"/>
          </a:p>
          <a:p>
            <a:pPr marL="304800" indent="-304800" algn="l">
              <a:lnSpc>
                <a:spcPct val="121000"/>
              </a:lnSpc>
              <a:buSzPct val="100000"/>
              <a:buChar char="•"/>
            </a:pPr>
            <a:r>
              <a:rPr lang="en-US" sz="1500" b="1" dirty="0">
                <a:solidFill>
                  <a:srgbClr val="F3F1F8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Creativity</a:t>
            </a:r>
            <a:r>
              <a:rPr lang="en-US" sz="1500" dirty="0">
                <a:solidFill>
                  <a:srgbClr val="F3F1F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through alternative ideas and prototypes</a:t>
            </a:r>
            <a:endParaRPr lang="en-US" sz="1500" dirty="0"/>
          </a:p>
          <a:p>
            <a:pPr marL="304800" indent="-304800" algn="l">
              <a:lnSpc>
                <a:spcPct val="121000"/>
              </a:lnSpc>
              <a:buSzPct val="100000"/>
              <a:buChar char="•"/>
            </a:pPr>
            <a:r>
              <a:rPr lang="en-US" sz="1500" b="1" dirty="0">
                <a:solidFill>
                  <a:srgbClr val="F3F1F8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Personalization</a:t>
            </a:r>
            <a:r>
              <a:rPr lang="en-US" sz="1500" dirty="0">
                <a:solidFill>
                  <a:srgbClr val="F3F1F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for different learners and users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324442" y="1787227"/>
            <a:ext cx="5257668" cy="3622675"/>
          </a:xfrm>
          <a:prstGeom prst="rect">
            <a:avLst/>
          </a:prstGeom>
          <a:noFill/>
          <a:ln w="25399">
            <a:solidFill>
              <a:srgbClr val="F2BE65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4634" y="2117427"/>
            <a:ext cx="476238" cy="47625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654634" y="2787352"/>
            <a:ext cx="4597285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000" dirty="0">
                <a:solidFill>
                  <a:srgbClr val="F2BE65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Limitations and ethical issues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654634" y="3231852"/>
            <a:ext cx="4597285" cy="1847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04800" indent="-304800" algn="l">
              <a:lnSpc>
                <a:spcPct val="121000"/>
              </a:lnSpc>
              <a:buSzPct val="100000"/>
              <a:buChar char="•"/>
            </a:pPr>
            <a:r>
              <a:rPr lang="en-US" sz="1500" b="1" dirty="0">
                <a:solidFill>
                  <a:srgbClr val="F3F1F8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Hallucinations</a:t>
            </a:r>
            <a:r>
              <a:rPr lang="en-US" sz="1500" dirty="0">
                <a:solidFill>
                  <a:srgbClr val="F3F1F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can sound convincing</a:t>
            </a:r>
            <a:endParaRPr lang="en-US" sz="1500" dirty="0"/>
          </a:p>
          <a:p>
            <a:pPr marL="304800" indent="-304800" algn="l">
              <a:lnSpc>
                <a:spcPct val="121000"/>
              </a:lnSpc>
              <a:buSzPct val="100000"/>
              <a:buChar char="•"/>
            </a:pPr>
            <a:r>
              <a:rPr lang="en-US" sz="1500" b="1" dirty="0">
                <a:solidFill>
                  <a:srgbClr val="F3F1F8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Bias</a:t>
            </a:r>
            <a:r>
              <a:rPr lang="en-US" sz="1500" dirty="0">
                <a:solidFill>
                  <a:srgbClr val="F3F1F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can reproduce harmful patterns</a:t>
            </a:r>
            <a:endParaRPr lang="en-US" sz="1500" dirty="0"/>
          </a:p>
          <a:p>
            <a:pPr marL="304800" indent="-304800" algn="l">
              <a:lnSpc>
                <a:spcPct val="121000"/>
              </a:lnSpc>
              <a:buSzPct val="100000"/>
              <a:buChar char="•"/>
            </a:pPr>
            <a:r>
              <a:rPr lang="en-US" sz="1500" b="1" dirty="0">
                <a:solidFill>
                  <a:srgbClr val="F3F1F8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Privacy concerns</a:t>
            </a:r>
            <a:r>
              <a:rPr lang="en-US" sz="1500" dirty="0">
                <a:solidFill>
                  <a:srgbClr val="F3F1F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require careful data handling</a:t>
            </a:r>
            <a:endParaRPr lang="en-US" sz="1500" dirty="0"/>
          </a:p>
          <a:p>
            <a:pPr marL="304800" indent="-304800" algn="l">
              <a:lnSpc>
                <a:spcPct val="121000"/>
              </a:lnSpc>
              <a:buSzPct val="100000"/>
              <a:buChar char="•"/>
            </a:pPr>
            <a:r>
              <a:rPr lang="en-US" sz="1500" b="1" dirty="0">
                <a:solidFill>
                  <a:srgbClr val="F3F1F8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Copyright issues</a:t>
            </a:r>
            <a:r>
              <a:rPr lang="en-US" sz="1500" dirty="0">
                <a:solidFill>
                  <a:srgbClr val="F3F1F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complicate ownership and reuse</a:t>
            </a:r>
            <a:endParaRPr lang="en-US" sz="1500" dirty="0"/>
          </a:p>
          <a:p>
            <a:pPr marL="304800" indent="-304800" algn="l">
              <a:lnSpc>
                <a:spcPct val="121000"/>
              </a:lnSpc>
              <a:buSzPct val="100000"/>
              <a:buChar char="•"/>
            </a:pPr>
            <a:r>
              <a:rPr lang="en-US" sz="1500" b="1" dirty="0">
                <a:solidFill>
                  <a:srgbClr val="F3F1F8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Dependence on AI</a:t>
            </a:r>
            <a:r>
              <a:rPr lang="en-US" sz="1500" dirty="0">
                <a:solidFill>
                  <a:srgbClr val="F3F1F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can weaken independent judgment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09585" y="5943699"/>
            <a:ext cx="5944443" cy="304800"/>
          </a:xfrm>
          <a:prstGeom prst="rect">
            <a:avLst/>
          </a:prstGeom>
          <a:noFill/>
          <a:ln w="6350">
            <a:solidFill>
              <a:srgbClr val="F8ED43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23882" y="6005612"/>
            <a:ext cx="63254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kern="100" spc="48" dirty="0">
                <a:solidFill>
                  <a:srgbClr val="F8ED43"/>
                </a:solidFill>
                <a:latin typeface="Fragment Mono" pitchFamily="34" charset="0"/>
                <a:ea typeface="Fragment Mono" pitchFamily="34" charset="-122"/>
                <a:cs typeface="Fragment Mono" pitchFamily="34" charset="-120"/>
              </a:rPr>
              <a:t>Verify outputs · Protect data · Keep human accountability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0658"/>
            <a:ext cx="7518212" cy="1675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kern="100" spc="88" dirty="0">
                <a:solidFill>
                  <a:srgbClr val="C7D14F"/>
                </a:solidFill>
                <a:latin typeface="Fragment Mono" pitchFamily="34" charset="0"/>
                <a:ea typeface="Fragment Mono" pitchFamily="34" charset="-122"/>
                <a:cs typeface="Fragment Mono" pitchFamily="34" charset="-120"/>
              </a:rPr>
              <a:t>WHAT COMES NEXT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9585" y="881955"/>
            <a:ext cx="6908627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000" kern="100" spc="-15" dirty="0">
                <a:solidFill>
                  <a:srgbClr val="F8ED43"/>
                </a:solidFill>
                <a:latin typeface="Saira Semi Condensed ExtraBold" pitchFamily="34" charset="0"/>
                <a:ea typeface="Saira Semi Condensed ExtraBold" pitchFamily="34" charset="-122"/>
                <a:cs typeface="Saira Semi Condensed ExtraBold" pitchFamily="34" charset="-120"/>
              </a:rPr>
              <a:t>The future is human-AI collaboration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9585" y="1443930"/>
            <a:ext cx="6908627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04800" indent="-304800" algn="l">
              <a:lnSpc>
                <a:spcPct val="121000"/>
              </a:lnSpc>
              <a:buSzPct val="100000"/>
              <a:buChar char="•"/>
            </a:pPr>
            <a:r>
              <a:rPr lang="en-US" sz="1500" b="1" dirty="0">
                <a:solidFill>
                  <a:srgbClr val="F3F1F8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Trends</a:t>
            </a:r>
            <a:r>
              <a:rPr lang="en-US" sz="1500" dirty="0">
                <a:solidFill>
                  <a:srgbClr val="F3F1F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include multimodal models, AI agents, and smaller efficient models.</a:t>
            </a:r>
            <a:endParaRPr lang="en-US" sz="1500" dirty="0"/>
          </a:p>
          <a:p>
            <a:pPr marL="304800" indent="-304800" algn="l">
              <a:lnSpc>
                <a:spcPct val="121000"/>
              </a:lnSpc>
              <a:buSzPct val="100000"/>
              <a:buChar char="•"/>
            </a:pPr>
            <a:r>
              <a:rPr lang="en-US" sz="1500" b="1" dirty="0">
                <a:solidFill>
                  <a:srgbClr val="F3F1F8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Responsible AI</a:t>
            </a:r>
            <a:r>
              <a:rPr lang="en-US" sz="1500" dirty="0">
                <a:solidFill>
                  <a:srgbClr val="F3F1F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requires fairness, transparency, safety, and privacy.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09585" y="2329755"/>
            <a:ext cx="330192" cy="330200"/>
          </a:xfrm>
          <a:prstGeom prst="ellipse">
            <a:avLst/>
          </a:prstGeom>
          <a:solidFill>
            <a:srgbClr val="F8ED43"/>
          </a:solidFill>
          <a:ln/>
        </p:spPr>
      </p:sp>
      <p:sp>
        <p:nvSpPr>
          <p:cNvPr id="6" name="Text 4"/>
          <p:cNvSpPr/>
          <p:nvPr/>
        </p:nvSpPr>
        <p:spPr>
          <a:xfrm>
            <a:off x="745412" y="2412305"/>
            <a:ext cx="668122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30272" y="2344678"/>
            <a:ext cx="6387940" cy="264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F8ED43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Generative AI learns patterns to create new content.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09585" y="2888555"/>
            <a:ext cx="330192" cy="330200"/>
          </a:xfrm>
          <a:prstGeom prst="ellipse">
            <a:avLst/>
          </a:prstGeom>
          <a:solidFill>
            <a:srgbClr val="F8ED43"/>
          </a:solidFill>
          <a:ln/>
        </p:spPr>
      </p:sp>
      <p:sp>
        <p:nvSpPr>
          <p:cNvPr id="9" name="Text 7"/>
          <p:cNvSpPr/>
          <p:nvPr/>
        </p:nvSpPr>
        <p:spPr>
          <a:xfrm>
            <a:off x="728446" y="2971105"/>
            <a:ext cx="7020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30272" y="2903478"/>
            <a:ext cx="6387940" cy="264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F8ED43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Transformers and LLMs power modern systems.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09585" y="3447355"/>
            <a:ext cx="330192" cy="330200"/>
          </a:xfrm>
          <a:prstGeom prst="ellipse">
            <a:avLst/>
          </a:prstGeom>
          <a:solidFill>
            <a:srgbClr val="F8ED43"/>
          </a:solidFill>
          <a:ln/>
        </p:spPr>
      </p:sp>
      <p:sp>
        <p:nvSpPr>
          <p:cNvPr id="12" name="Text 10"/>
          <p:cNvSpPr/>
          <p:nvPr/>
        </p:nvSpPr>
        <p:spPr>
          <a:xfrm>
            <a:off x="730033" y="3529905"/>
            <a:ext cx="6987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3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30272" y="3462278"/>
            <a:ext cx="6387940" cy="2641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F8ED43"/>
                </a:solidFill>
                <a:latin typeface="Barlow Medium" pitchFamily="34" charset="0"/>
                <a:ea typeface="Barlow Medium" pitchFamily="34" charset="-122"/>
                <a:cs typeface="Barlow Medium" pitchFamily="34" charset="-120"/>
              </a:rPr>
              <a:t>Human oversight keeps it reliable and ethical.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09585" y="4070449"/>
            <a:ext cx="7518212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04800" indent="-304800" algn="l">
              <a:lnSpc>
                <a:spcPct val="121000"/>
              </a:lnSpc>
              <a:buSzPct val="100000"/>
              <a:buChar char="•"/>
            </a:pPr>
            <a:r>
              <a:rPr lang="en-US" sz="1500" dirty="0">
                <a:solidFill>
                  <a:srgbClr val="F3F1F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AI will not replace thinkers, but thinkers who use AI will lead.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09585" y="4944170"/>
            <a:ext cx="6908528" cy="38100"/>
          </a:xfrm>
          <a:prstGeom prst="roundRect">
            <a:avLst>
              <a:gd name="adj" fmla="val 49999"/>
            </a:avLst>
          </a:prstGeom>
          <a:solidFill>
            <a:srgbClr val="F8ED43"/>
          </a:solidFill>
          <a:ln/>
        </p:spPr>
      </p:sp>
      <p:sp>
        <p:nvSpPr>
          <p:cNvPr id="16" name="Text 14"/>
          <p:cNvSpPr/>
          <p:nvPr/>
        </p:nvSpPr>
        <p:spPr>
          <a:xfrm>
            <a:off x="609585" y="5404545"/>
            <a:ext cx="6908627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4000" kern="100" spc="-20" dirty="0">
                <a:solidFill>
                  <a:srgbClr val="F8ED43"/>
                </a:solidFill>
                <a:latin typeface="Saira Semi Condensed ExtraBold" pitchFamily="34" charset="0"/>
                <a:ea typeface="Saira Semi Condensed ExtraBold" pitchFamily="34" charset="-122"/>
                <a:cs typeface="Saira Semi Condensed ExtraBold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609585" y="6081878"/>
            <a:ext cx="7518212" cy="1675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kern="100" spc="88" dirty="0">
                <a:solidFill>
                  <a:srgbClr val="C7D14F"/>
                </a:solidFill>
                <a:latin typeface="Fragment Mono" pitchFamily="34" charset="0"/>
                <a:ea typeface="Fragment Mono" pitchFamily="34" charset="-122"/>
                <a:cs typeface="Fragment Mono" pitchFamily="34" charset="-120"/>
              </a:rPr>
              <a:t>QUESTIONS WELCOME</a:t>
            </a:r>
            <a:endParaRPr lang="en-US" sz="1100" dirty="0"/>
          </a:p>
        </p:txBody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7797" y="0"/>
            <a:ext cx="4063898" cy="685800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609585" y="2767905"/>
            <a:ext cx="6908627" cy="12700"/>
          </a:xfrm>
          <a:prstGeom prst="rect">
            <a:avLst/>
          </a:prstGeom>
          <a:solidFill>
            <a:srgbClr val="40456A"/>
          </a:solidFill>
          <a:ln/>
        </p:spPr>
      </p:sp>
      <p:sp>
        <p:nvSpPr>
          <p:cNvPr id="20" name="Shape 17"/>
          <p:cNvSpPr/>
          <p:nvPr/>
        </p:nvSpPr>
        <p:spPr>
          <a:xfrm>
            <a:off x="609585" y="3326705"/>
            <a:ext cx="6908627" cy="12700"/>
          </a:xfrm>
          <a:prstGeom prst="rect">
            <a:avLst/>
          </a:prstGeom>
          <a:solidFill>
            <a:srgbClr val="40456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859</Words>
  <Application>Microsoft Office PowerPoint</Application>
  <PresentationFormat>Widescreen</PresentationFormat>
  <Paragraphs>123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Barlow Medium</vt:lpstr>
      <vt:lpstr>Arial</vt:lpstr>
      <vt:lpstr>Fragment Mono</vt:lpstr>
      <vt:lpstr>Saira Semi Condensed ExtraBold</vt:lpstr>
      <vt:lpstr>Calibri</vt:lpstr>
      <vt:lpstr>Barlow SemiBold</vt:lpstr>
      <vt:lpstr>Barlow Bold</vt:lpstr>
      <vt:lpstr>Barlow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user</dc:creator>
  <cp:lastModifiedBy>user</cp:lastModifiedBy>
  <cp:revision>2</cp:revision>
  <dcterms:created xsi:type="dcterms:W3CDTF">2026-10-12T06:42:54Z</dcterms:created>
  <dcterms:modified xsi:type="dcterms:W3CDTF">2026-10-12T06:52:08Z</dcterms:modified>
</cp:coreProperties>
</file>