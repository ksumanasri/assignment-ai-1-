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Alice"/>
      <p:regular r:id="rId201314"/>
    </p:embeddedFont>
    <p:embeddedFont>
      <p:font typeface="Lora"/>
      <p:regular r:id="rId201315"/>
    </p:embeddedFont>
    <p:embeddedFont>
      <p:font typeface="Lora SemiBold"/>
      <p:regular r:id="rId201316"/>
    </p:embeddedFont>
    <p:embeddedFont>
      <p:font typeface="Lora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where a plant's food comes from. Water and minerals support growth, but plants build their own sugars using carbon dioxide and energy from sunlight. Today we will follow that energy through two connected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equation from left to right. Carbon dioxide comes from the air, and water usually enters through roots. Glucose represents the sugars plants make. This is the familiar overall equation, not a single reaction. Light supplies energy; it is not a material ingredient. The released oxygen comes from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shows whole chloroplasts, not their internal membranes. The simplified drawing enlarges one chloroplast. One stack is a granum; multiple stacks are grana. Chlorophyll sits in thylakoid membranes. Point to the fluid around the stacks: the stroma, where the Calvin cycle takes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stages are linked by molecules, not by a literal handoff of sunlight. ATP and NADPH travel from the light reactions to the Calvin cycle. After use, ADP, phosphate, and NADP⁺ can return to be recharged. The Calvin cycle does not directly capture light, but depends on the light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Photosystem II comes before photosystem I in this pathway; their names reflect discovery order. Light energizes electrons at both photosystems. Water replaces the electrons lost by photosystem II. Electron transport helps create a proton gradient across the membrane. ATP synthase uses the return flow of protons to make ATP. ATP production is a linked branch, not a stop on the electron route. NADPH carries the energized electrons onward.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Fixation means incorporating carbon from carbon dioxide into an organic molecule. Rubisco is the enzyme that starts this process. Reduction uses ATP and electrons supplied by NADPH. G3P is the direct sugar product, rather than a whole glucose molecule. Most of the cycle's carbon stays inside to regenerate RuBP, while some leaves to support carbohydrate production. The cycle requires energy even though it does not capture light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light helps only while light is limiting. The rate eventually levels off because something else limits it. Extreme heat can affect enzymes, while dry conditions cause stomata to close, reducing carbon dioxide entry. C4 plants separate carbon capture and the Calvin cycle across cells. CAM plants separate them across time, opening stomata at night. Both adaptations help in hot or dry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chemistry to the forest. Sugar supports growth and food webs, while photosynthesis adds oxygen to the air. Carbon captured during photosynthesis can remain in wood and soil, but respiration, decay, and burning return carbon dioxide to the atmosphere. Fossil fuels formed from ancient organisms over long periods; burning them releases stored chemical energy and carbon. Ask students to trace the energy in one food they ate back to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CFBF8"/>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3-3.jpe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678" cy="6858000"/>
          </a:xfrm>
          <a:prstGeom prst="rect">
            <a:avLst/>
          </a:prstGeom>
        </p:spPr>
      </p:pic>
      <p:sp>
        <p:nvSpPr>
          <p:cNvPr id="3" name="Text 0"/>
          <p:cNvSpPr/>
          <p:nvPr/>
        </p:nvSpPr>
        <p:spPr>
          <a:xfrm>
            <a:off x="5486263" y="1640265"/>
            <a:ext cx="6705432" cy="198041"/>
          </a:xfrm>
          <a:prstGeom prst="rect">
            <a:avLst/>
          </a:prstGeom>
          <a:noFill/>
          <a:ln/>
        </p:spPr>
        <p:txBody>
          <a:bodyPr wrap="none" lIns="0" tIns="0" rIns="0" bIns="0" rtlCol="0" anchor="t"/>
          <a:lstStyle/>
          <a:p>
            <a:pPr algn="l" indent="0" marL="0">
              <a:lnSpc>
                <a:spcPct val="100000"/>
              </a:lnSpc>
              <a:buNone/>
            </a:pPr>
            <a:r>
              <a:rPr lang="en-US" sz="1300" spc="39" kern="100" dirty="0">
                <a:solidFill>
                  <a:srgbClr val="1B5F39"/>
                </a:solidFill>
                <a:latin typeface="Lora SemiBold" pitchFamily="34" charset="0"/>
                <a:ea typeface="Lora SemiBold" pitchFamily="34" charset="-122"/>
                <a:cs typeface="Lora SemiBold" pitchFamily="34" charset="-120"/>
              </a:rPr>
              <a:t>BIOLOGY · ENERGY AND LIFE</a:t>
            </a:r>
            <a:endParaRPr lang="en-US" sz="1300" dirty="0"/>
          </a:p>
        </p:txBody>
      </p:sp>
      <p:sp>
        <p:nvSpPr>
          <p:cNvPr id="4" name="Text 1"/>
          <p:cNvSpPr/>
          <p:nvPr/>
        </p:nvSpPr>
        <p:spPr>
          <a:xfrm>
            <a:off x="5486263" y="1941275"/>
            <a:ext cx="6095848" cy="1843980"/>
          </a:xfrm>
          <a:prstGeom prst="rect">
            <a:avLst/>
          </a:prstGeom>
          <a:noFill/>
          <a:ln/>
        </p:spPr>
        <p:txBody>
          <a:bodyPr wrap="square" lIns="0" tIns="0" rIns="0" bIns="0" rtlCol="0" anchor="t">
            <a:normAutofit/>
          </a:bodyPr>
          <a:lstStyle/>
          <a:p>
            <a:pPr algn="l" indent="0" marL="0">
              <a:lnSpc>
                <a:spcPct val="92000"/>
              </a:lnSpc>
              <a:buNone/>
            </a:pPr>
            <a:r>
              <a:rPr lang="en-US" sz="4400" dirty="0">
                <a:solidFill>
                  <a:srgbClr val="233E32"/>
                </a:solidFill>
                <a:latin typeface="Alice" pitchFamily="34" charset="0"/>
                <a:ea typeface="Alice" pitchFamily="34" charset="-122"/>
                <a:cs typeface="Alice" pitchFamily="34" charset="-120"/>
              </a:rPr>
              <a:t>Photosynthesis: How Plants Turn Light into Life</a:t>
            </a:r>
            <a:endParaRPr lang="en-US" sz="4400" dirty="0"/>
          </a:p>
        </p:txBody>
      </p:sp>
      <p:pic>
        <p:nvPicPr>
          <p:cNvPr id="5" name="Image 1" descr="preencoded.png">    </p:cNvPr>
          <p:cNvPicPr>
            <a:picLocks noChangeAspect="1"/>
          </p:cNvPicPr>
          <p:nvPr/>
        </p:nvPicPr>
        <p:blipFill>
          <a:blip r:embed="rId2"/>
          <a:stretch>
            <a:fillRect/>
          </a:stretch>
        </p:blipFill>
        <p:spPr>
          <a:xfrm>
            <a:off x="5486263" y="4009628"/>
            <a:ext cx="279294" cy="114300"/>
          </a:xfrm>
          <a:prstGeom prst="rect">
            <a:avLst/>
          </a:prstGeom>
        </p:spPr>
      </p:pic>
      <p:sp>
        <p:nvSpPr>
          <p:cNvPr id="6" name="Shape 2"/>
          <p:cNvSpPr/>
          <p:nvPr/>
        </p:nvSpPr>
        <p:spPr>
          <a:xfrm>
            <a:off x="5486263" y="4050903"/>
            <a:ext cx="6095848" cy="31651"/>
          </a:xfrm>
          <a:prstGeom prst="roundRect">
            <a:avLst>
              <a:gd name="adj" fmla="val 49998"/>
            </a:avLst>
          </a:prstGeom>
          <a:solidFill>
            <a:srgbClr val="1B5F39"/>
          </a:solidFill>
          <a:ln/>
        </p:spPr>
      </p:sp>
      <p:pic>
        <p:nvPicPr>
          <p:cNvPr id="7" name="Image 2" descr="preencoded.png">    </p:cNvPr>
          <p:cNvPicPr>
            <a:picLocks noChangeAspect="1"/>
          </p:cNvPicPr>
          <p:nvPr/>
        </p:nvPicPr>
        <p:blipFill>
          <a:blip r:embed="rId3"/>
          <a:stretch>
            <a:fillRect/>
          </a:stretch>
        </p:blipFill>
        <p:spPr>
          <a:xfrm>
            <a:off x="11302717" y="4009628"/>
            <a:ext cx="279294" cy="114300"/>
          </a:xfrm>
          <a:prstGeom prst="rect">
            <a:avLst/>
          </a:prstGeom>
        </p:spPr>
      </p:pic>
      <p:sp>
        <p:nvSpPr>
          <p:cNvPr id="8" name="Text 3"/>
          <p:cNvSpPr/>
          <p:nvPr/>
        </p:nvSpPr>
        <p:spPr>
          <a:xfrm>
            <a:off x="5486263" y="4540488"/>
            <a:ext cx="6095848" cy="693341"/>
          </a:xfrm>
          <a:prstGeom prst="rect">
            <a:avLst/>
          </a:prstGeom>
          <a:noFill/>
          <a:ln/>
        </p:spPr>
        <p:txBody>
          <a:bodyPr wrap="square" lIns="0" tIns="0" rIns="0" bIns="0" rtlCol="0" anchor="t">
            <a:normAutofit/>
          </a:bodyPr>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Follow sunlight from a leaf to the food that fuels an ecosystem.</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Plants make their own food from light, water, and air</a:t>
            </a:r>
            <a:endParaRPr lang="en-US" sz="3400" dirty="0"/>
          </a:p>
        </p:txBody>
      </p:sp>
      <p:pic>
        <p:nvPicPr>
          <p:cNvPr id="3" name="Image 0" descr="preencoded.png">    </p:cNvPr>
          <p:cNvPicPr>
            <a:picLocks noChangeAspect="1"/>
          </p:cNvPicPr>
          <p:nvPr/>
        </p:nvPicPr>
        <p:blipFill>
          <a:blip r:embed="rId1"/>
          <a:stretch>
            <a:fillRect/>
          </a:stretch>
        </p:blipFill>
        <p:spPr>
          <a:xfrm>
            <a:off x="609585" y="1327448"/>
            <a:ext cx="279294" cy="114300"/>
          </a:xfrm>
          <a:prstGeom prst="rect">
            <a:avLst/>
          </a:prstGeom>
        </p:spPr>
      </p:pic>
      <p:sp>
        <p:nvSpPr>
          <p:cNvPr id="4" name="Shape 1"/>
          <p:cNvSpPr/>
          <p:nvPr/>
        </p:nvSpPr>
        <p:spPr>
          <a:xfrm>
            <a:off x="609585" y="1368723"/>
            <a:ext cx="362079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3951089" y="1327448"/>
            <a:ext cx="279294" cy="114300"/>
          </a:xfrm>
          <a:prstGeom prst="rect">
            <a:avLst/>
          </a:prstGeom>
        </p:spPr>
      </p:pic>
      <p:pic>
        <p:nvPicPr>
          <p:cNvPr id="6" name="Image 2" descr="preencoded.png">    </p:cNvPr>
          <p:cNvPicPr>
            <a:picLocks noChangeAspect="1"/>
          </p:cNvPicPr>
          <p:nvPr/>
        </p:nvPicPr>
        <p:blipFill>
          <a:blip r:embed="rId3"/>
          <a:stretch>
            <a:fillRect/>
          </a:stretch>
        </p:blipFill>
        <p:spPr>
          <a:xfrm>
            <a:off x="609585" y="2359819"/>
            <a:ext cx="10972526" cy="373360"/>
          </a:xfrm>
          <a:prstGeom prst="rect">
            <a:avLst/>
          </a:prstGeom>
        </p:spPr>
      </p:pic>
      <p:sp>
        <p:nvSpPr>
          <p:cNvPr id="7" name="Text 2"/>
          <p:cNvSpPr/>
          <p:nvPr/>
        </p:nvSpPr>
        <p:spPr>
          <a:xfrm>
            <a:off x="304792" y="2942729"/>
            <a:ext cx="11582110" cy="368300"/>
          </a:xfrm>
          <a:prstGeom prst="rect">
            <a:avLst/>
          </a:prstGeom>
          <a:noFill/>
          <a:ln/>
        </p:spPr>
        <p:txBody>
          <a:bodyPr wrap="none" lIns="0" tIns="0" rIns="0" bIns="0" rtlCol="0" anchor="t"/>
          <a:lstStyle/>
          <a:p>
            <a:pPr algn="ctr" indent="0" marL="0">
              <a:lnSpc>
                <a:spcPct val="121000"/>
              </a:lnSpc>
              <a:buNone/>
            </a:pPr>
            <a:r>
              <a:rPr lang="en-US" sz="2000" dirty="0">
                <a:solidFill>
                  <a:srgbClr val="2C2821"/>
                </a:solidFill>
                <a:latin typeface="Lora" pitchFamily="34" charset="0"/>
                <a:ea typeface="Lora" pitchFamily="34" charset="-122"/>
                <a:cs typeface="Lora" pitchFamily="34" charset="-120"/>
              </a:rPr>
              <a:t>Carbon dioxide + water + light → glucose + oxygen</a:t>
            </a:r>
            <a:endParaRPr lang="en-US" sz="2000" dirty="0"/>
          </a:p>
        </p:txBody>
      </p:sp>
      <p:sp>
        <p:nvSpPr>
          <p:cNvPr id="8" name="Shape 3"/>
          <p:cNvSpPr/>
          <p:nvPr/>
        </p:nvSpPr>
        <p:spPr>
          <a:xfrm>
            <a:off x="609585" y="3663454"/>
            <a:ext cx="5257668" cy="1681262"/>
          </a:xfrm>
          <a:prstGeom prst="rect">
            <a:avLst/>
          </a:prstGeom>
          <a:solidFill>
            <a:srgbClr val="E3EDDD"/>
          </a:solidFill>
          <a:ln/>
        </p:spPr>
      </p:sp>
      <p:sp>
        <p:nvSpPr>
          <p:cNvPr id="9" name="Text 4"/>
          <p:cNvSpPr/>
          <p:nvPr/>
        </p:nvSpPr>
        <p:spPr>
          <a:xfrm>
            <a:off x="838179" y="3902531"/>
            <a:ext cx="4800480" cy="396180"/>
          </a:xfrm>
          <a:prstGeom prst="rect">
            <a:avLst/>
          </a:prstGeom>
          <a:noFill/>
          <a:ln/>
        </p:spPr>
        <p:txBody>
          <a:bodyPr wrap="none" lIns="0" tIns="0" rIns="0" bIns="0" rtlCol="0" anchor="t"/>
          <a:lstStyle/>
          <a:p>
            <a:pPr algn="l" indent="0" marL="0">
              <a:lnSpc>
                <a:spcPct val="108000"/>
              </a:lnSpc>
              <a:buNone/>
            </a:pPr>
            <a:r>
              <a:rPr lang="en-US" sz="2400" dirty="0">
                <a:solidFill>
                  <a:srgbClr val="2C2821"/>
                </a:solidFill>
                <a:latin typeface="Lora" pitchFamily="34" charset="0"/>
                <a:ea typeface="Lora" pitchFamily="34" charset="-122"/>
                <a:cs typeface="Lora" pitchFamily="34" charset="-120"/>
              </a:rPr>
              <a:t>Food starts here</a:t>
            </a:r>
            <a:endParaRPr lang="en-US" sz="2400" dirty="0"/>
          </a:p>
        </p:txBody>
      </p:sp>
      <p:sp>
        <p:nvSpPr>
          <p:cNvPr id="10" name="Text 5"/>
          <p:cNvSpPr/>
          <p:nvPr/>
        </p:nvSpPr>
        <p:spPr>
          <a:xfrm>
            <a:off x="838179" y="4453334"/>
            <a:ext cx="4800480"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Producers feed nearly every food chain by storing light energy in sugars.</a:t>
            </a:r>
            <a:endParaRPr lang="en-US" sz="1800" dirty="0"/>
          </a:p>
        </p:txBody>
      </p:sp>
      <p:sp>
        <p:nvSpPr>
          <p:cNvPr id="11" name="Shape 6"/>
          <p:cNvSpPr/>
          <p:nvPr/>
        </p:nvSpPr>
        <p:spPr>
          <a:xfrm>
            <a:off x="6324442" y="3663454"/>
            <a:ext cx="5257668" cy="1681262"/>
          </a:xfrm>
          <a:prstGeom prst="rect">
            <a:avLst/>
          </a:prstGeom>
          <a:solidFill>
            <a:srgbClr val="E3EDDD"/>
          </a:solidFill>
          <a:ln/>
        </p:spPr>
      </p:sp>
      <p:sp>
        <p:nvSpPr>
          <p:cNvPr id="12" name="Text 7"/>
          <p:cNvSpPr/>
          <p:nvPr/>
        </p:nvSpPr>
        <p:spPr>
          <a:xfrm>
            <a:off x="6553036" y="3902531"/>
            <a:ext cx="4800480" cy="396180"/>
          </a:xfrm>
          <a:prstGeom prst="rect">
            <a:avLst/>
          </a:prstGeom>
          <a:noFill/>
          <a:ln/>
        </p:spPr>
        <p:txBody>
          <a:bodyPr wrap="none" lIns="0" tIns="0" rIns="0" bIns="0" rtlCol="0" anchor="t"/>
          <a:lstStyle/>
          <a:p>
            <a:pPr algn="l" indent="0" marL="0">
              <a:lnSpc>
                <a:spcPct val="108000"/>
              </a:lnSpc>
              <a:buNone/>
            </a:pPr>
            <a:r>
              <a:rPr lang="en-US" sz="2400" dirty="0">
                <a:solidFill>
                  <a:srgbClr val="2C2821"/>
                </a:solidFill>
                <a:latin typeface="Lora" pitchFamily="34" charset="0"/>
                <a:ea typeface="Lora" pitchFamily="34" charset="-122"/>
                <a:cs typeface="Lora" pitchFamily="34" charset="-120"/>
              </a:rPr>
              <a:t>Oxygen leaves the plant</a:t>
            </a:r>
            <a:endParaRPr lang="en-US" sz="2400" dirty="0"/>
          </a:p>
        </p:txBody>
      </p:sp>
      <p:sp>
        <p:nvSpPr>
          <p:cNvPr id="13" name="Text 8"/>
          <p:cNvSpPr/>
          <p:nvPr/>
        </p:nvSpPr>
        <p:spPr>
          <a:xfrm>
            <a:off x="6553036" y="4453334"/>
            <a:ext cx="4800480"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Photosynthesis releases the oxygen we breathe.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Chloroplasts are the solar panels of the cell</a:t>
            </a:r>
            <a:endParaRPr lang="en-US" sz="3400" dirty="0"/>
          </a:p>
        </p:txBody>
      </p:sp>
      <p:pic>
        <p:nvPicPr>
          <p:cNvPr id="3" name="Image 0" descr="preencoded.png">    </p:cNvPr>
          <p:cNvPicPr>
            <a:picLocks noChangeAspect="1"/>
          </p:cNvPicPr>
          <p:nvPr/>
        </p:nvPicPr>
        <p:blipFill>
          <a:blip r:embed="rId1"/>
          <a:stretch>
            <a:fillRect/>
          </a:stretch>
        </p:blipFill>
        <p:spPr>
          <a:xfrm>
            <a:off x="609585" y="1327448"/>
            <a:ext cx="279294" cy="114300"/>
          </a:xfrm>
          <a:prstGeom prst="rect">
            <a:avLst/>
          </a:prstGeom>
        </p:spPr>
      </p:pic>
      <p:sp>
        <p:nvSpPr>
          <p:cNvPr id="4" name="Shape 1"/>
          <p:cNvSpPr/>
          <p:nvPr/>
        </p:nvSpPr>
        <p:spPr>
          <a:xfrm>
            <a:off x="609585" y="1368723"/>
            <a:ext cx="362079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3951089" y="1327448"/>
            <a:ext cx="279294" cy="114300"/>
          </a:xfrm>
          <a:prstGeom prst="rect">
            <a:avLst/>
          </a:prstGeom>
        </p:spPr>
      </p:pic>
      <p:sp>
        <p:nvSpPr>
          <p:cNvPr id="6" name="Shape 2"/>
          <p:cNvSpPr/>
          <p:nvPr/>
        </p:nvSpPr>
        <p:spPr>
          <a:xfrm>
            <a:off x="609585" y="1662410"/>
            <a:ext cx="2476438" cy="3302000"/>
          </a:xfrm>
          <a:prstGeom prst="roundRect">
            <a:avLst>
              <a:gd name="adj" fmla="val 9846"/>
            </a:avLst>
          </a:prstGeom>
          <a:noFill/>
          <a:ln w="50799">
            <a:solidFill>
              <a:srgbClr val="FAF9F4"/>
            </a:solidFill>
            <a:prstDash val="solid"/>
          </a:ln>
        </p:spPr>
      </p:sp>
      <p:pic>
        <p:nvPicPr>
          <p:cNvPr id="7" name="Image 2" descr="preencoded.png">    </p:cNvPr>
          <p:cNvPicPr>
            <a:picLocks noChangeAspect="1"/>
          </p:cNvPicPr>
          <p:nvPr/>
        </p:nvPicPr>
        <p:blipFill>
          <a:blip r:embed="rId3"/>
          <a:stretch>
            <a:fillRect/>
          </a:stretch>
        </p:blipFill>
        <p:spPr>
          <a:xfrm>
            <a:off x="609585" y="1662410"/>
            <a:ext cx="2476438" cy="3302000"/>
          </a:xfrm>
          <a:prstGeom prst="rect">
            <a:avLst/>
          </a:prstGeom>
        </p:spPr>
      </p:pic>
      <p:sp>
        <p:nvSpPr>
          <p:cNvPr id="8" name="Text 3"/>
          <p:cNvSpPr/>
          <p:nvPr/>
        </p:nvSpPr>
        <p:spPr>
          <a:xfrm>
            <a:off x="609585" y="5092839"/>
            <a:ext cx="2628834" cy="222845"/>
          </a:xfrm>
          <a:prstGeom prst="rect">
            <a:avLst/>
          </a:prstGeom>
          <a:noFill/>
          <a:ln/>
        </p:spPr>
        <p:txBody>
          <a:bodyPr wrap="none" lIns="0" tIns="0" rIns="0" bIns="0" rtlCol="0" anchor="t"/>
          <a:lstStyle/>
          <a:p>
            <a:pPr algn="l" indent="0" marL="0">
              <a:lnSpc>
                <a:spcPct val="113000"/>
              </a:lnSpc>
              <a:buNone/>
            </a:pPr>
            <a:r>
              <a:rPr lang="en-US" sz="1300" i="1" dirty="0">
                <a:solidFill>
                  <a:srgbClr val="5E5A50"/>
                </a:solidFill>
                <a:latin typeface="Lora" pitchFamily="34" charset="0"/>
                <a:ea typeface="Lora" pitchFamily="34" charset="-122"/>
                <a:cs typeface="Lora" pitchFamily="34" charset="-120"/>
              </a:rPr>
              <a:t>Green chloroplasts inside leaf cells.</a:t>
            </a:r>
            <a:endParaRPr lang="en-US" sz="1300" dirty="0"/>
          </a:p>
        </p:txBody>
      </p:sp>
      <p:pic>
        <p:nvPicPr>
          <p:cNvPr id="9" name="Image 3" descr="preencoded.png">    </p:cNvPr>
          <p:cNvPicPr>
            <a:picLocks noChangeAspect="1"/>
          </p:cNvPicPr>
          <p:nvPr/>
        </p:nvPicPr>
        <p:blipFill>
          <a:blip r:embed="rId4"/>
          <a:stretch>
            <a:fillRect/>
          </a:stretch>
        </p:blipFill>
        <p:spPr>
          <a:xfrm>
            <a:off x="3695608" y="1662410"/>
            <a:ext cx="7886503" cy="2394148"/>
          </a:xfrm>
          <a:prstGeom prst="rect">
            <a:avLst/>
          </a:prstGeom>
        </p:spPr>
      </p:pic>
      <p:sp>
        <p:nvSpPr>
          <p:cNvPr id="10" name="Text 4"/>
          <p:cNvSpPr/>
          <p:nvPr/>
        </p:nvSpPr>
        <p:spPr>
          <a:xfrm>
            <a:off x="3695608" y="4189909"/>
            <a:ext cx="7886503"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Thylakoids stacked in grana hold chlorophyll. The surrounding stroma is the fluid where sugar is built.</a:t>
            </a:r>
            <a:endParaRPr lang="en-US" sz="1800" dirty="0"/>
          </a:p>
        </p:txBody>
      </p:sp>
      <p:sp>
        <p:nvSpPr>
          <p:cNvPr id="11" name="Shape 5"/>
          <p:cNvSpPr/>
          <p:nvPr/>
        </p:nvSpPr>
        <p:spPr>
          <a:xfrm>
            <a:off x="3695608" y="4986040"/>
            <a:ext cx="7886503" cy="1119981"/>
          </a:xfrm>
          <a:prstGeom prst="rect">
            <a:avLst/>
          </a:prstGeom>
          <a:solidFill>
            <a:srgbClr val="E3EDDD"/>
          </a:solidFill>
          <a:ln/>
        </p:spPr>
      </p:sp>
      <p:sp>
        <p:nvSpPr>
          <p:cNvPr id="12" name="Text 6"/>
          <p:cNvSpPr/>
          <p:nvPr/>
        </p:nvSpPr>
        <p:spPr>
          <a:xfrm>
            <a:off x="3924202" y="5214640"/>
            <a:ext cx="7429314"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Chlorophyll absorbs red and blue light, reflects green. That reflected light makes leaves look green.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Two stages work as a relay</a:t>
            </a:r>
            <a:endParaRPr lang="en-US" sz="3400" dirty="0"/>
          </a:p>
        </p:txBody>
      </p:sp>
      <p:pic>
        <p:nvPicPr>
          <p:cNvPr id="3" name="Image 0" descr="preencoded.png">    </p:cNvPr>
          <p:cNvPicPr>
            <a:picLocks noChangeAspect="1"/>
          </p:cNvPicPr>
          <p:nvPr/>
        </p:nvPicPr>
        <p:blipFill>
          <a:blip r:embed="rId1"/>
          <a:stretch>
            <a:fillRect/>
          </a:stretch>
        </p:blipFill>
        <p:spPr>
          <a:xfrm>
            <a:off x="609585" y="1327448"/>
            <a:ext cx="279294" cy="114300"/>
          </a:xfrm>
          <a:prstGeom prst="rect">
            <a:avLst/>
          </a:prstGeom>
        </p:spPr>
      </p:pic>
      <p:sp>
        <p:nvSpPr>
          <p:cNvPr id="4" name="Shape 1"/>
          <p:cNvSpPr/>
          <p:nvPr/>
        </p:nvSpPr>
        <p:spPr>
          <a:xfrm>
            <a:off x="609585" y="1368723"/>
            <a:ext cx="362079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3951089" y="1327448"/>
            <a:ext cx="279294" cy="114300"/>
          </a:xfrm>
          <a:prstGeom prst="rect">
            <a:avLst/>
          </a:prstGeom>
        </p:spPr>
      </p:pic>
      <p:sp>
        <p:nvSpPr>
          <p:cNvPr id="6" name="Shape 2"/>
          <p:cNvSpPr/>
          <p:nvPr/>
        </p:nvSpPr>
        <p:spPr>
          <a:xfrm>
            <a:off x="609585" y="1680766"/>
            <a:ext cx="5486263" cy="914400"/>
          </a:xfrm>
          <a:prstGeom prst="rect">
            <a:avLst/>
          </a:prstGeom>
          <a:solidFill>
            <a:srgbClr val="BDDACA"/>
          </a:solidFill>
          <a:ln/>
        </p:spPr>
      </p:sp>
      <p:sp>
        <p:nvSpPr>
          <p:cNvPr id="7" name="Shape 3"/>
          <p:cNvSpPr/>
          <p:nvPr/>
        </p:nvSpPr>
        <p:spPr>
          <a:xfrm>
            <a:off x="609585" y="1680766"/>
            <a:ext cx="5486263" cy="914400"/>
          </a:xfrm>
          <a:prstGeom prst="rect">
            <a:avLst/>
          </a:prstGeom>
          <a:solidFill>
            <a:srgbClr val="D7F4E4"/>
          </a:solidFill>
          <a:ln/>
        </p:spPr>
      </p:sp>
      <p:sp>
        <p:nvSpPr>
          <p:cNvPr id="8" name="Text 4"/>
          <p:cNvSpPr/>
          <p:nvPr/>
        </p:nvSpPr>
        <p:spPr>
          <a:xfrm>
            <a:off x="3285447" y="1966516"/>
            <a:ext cx="744023" cy="342900"/>
          </a:xfrm>
          <a:prstGeom prst="rect">
            <a:avLst/>
          </a:prstGeom>
          <a:noFill/>
          <a:ln/>
        </p:spPr>
        <p:txBody>
          <a:bodyPr wrap="none" lIns="0" tIns="0" rIns="0" bIns="0" rtlCol="0" anchor="t"/>
          <a:lstStyle/>
          <a:p>
            <a:pPr algn="l" indent="0" marL="0">
              <a:lnSpc>
                <a:spcPct val="83000"/>
              </a:lnSpc>
              <a:buNone/>
            </a:pPr>
            <a:r>
              <a:rPr lang="en-US" sz="2700" dirty="0">
                <a:solidFill>
                  <a:srgbClr val="2C2821"/>
                </a:solidFill>
                <a:latin typeface="Lora SemiBold" pitchFamily="34" charset="0"/>
                <a:ea typeface="Lora SemiBold" pitchFamily="34" charset="-122"/>
                <a:cs typeface="Lora SemiBold" pitchFamily="34" charset="-120"/>
              </a:rPr>
              <a:t>1</a:t>
            </a:r>
            <a:endParaRPr lang="en-US" sz="2700" dirty="0"/>
          </a:p>
        </p:txBody>
      </p:sp>
      <p:sp>
        <p:nvSpPr>
          <p:cNvPr id="9" name="Text 5"/>
          <p:cNvSpPr/>
          <p:nvPr/>
        </p:nvSpPr>
        <p:spPr>
          <a:xfrm>
            <a:off x="609585" y="2697718"/>
            <a:ext cx="5486263" cy="396180"/>
          </a:xfrm>
          <a:prstGeom prst="rect">
            <a:avLst/>
          </a:prstGeom>
          <a:noFill/>
          <a:ln/>
        </p:spPr>
        <p:txBody>
          <a:bodyPr wrap="none" lIns="0" tIns="0" rIns="0" bIns="0" rtlCol="0" anchor="t"/>
          <a:lstStyle/>
          <a:p>
            <a:pPr algn="l" indent="0" marL="0">
              <a:lnSpc>
                <a:spcPct val="108000"/>
              </a:lnSpc>
              <a:buNone/>
            </a:pPr>
            <a:r>
              <a:rPr lang="en-US" sz="2400" dirty="0">
                <a:solidFill>
                  <a:srgbClr val="233E32"/>
                </a:solidFill>
                <a:latin typeface="Lora" pitchFamily="34" charset="0"/>
                <a:ea typeface="Lora" pitchFamily="34" charset="-122"/>
                <a:cs typeface="Lora" pitchFamily="34" charset="-120"/>
              </a:rPr>
              <a:t>Light reactions</a:t>
            </a:r>
            <a:endParaRPr lang="en-US" sz="2400" dirty="0"/>
          </a:p>
        </p:txBody>
      </p:sp>
      <p:sp>
        <p:nvSpPr>
          <p:cNvPr id="10" name="Text 6"/>
          <p:cNvSpPr/>
          <p:nvPr/>
        </p:nvSpPr>
        <p:spPr>
          <a:xfrm>
            <a:off x="609585" y="3248521"/>
            <a:ext cx="5486263"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Thylakoid membranes capture sunlight and turn it into chemical energy.</a:t>
            </a:r>
            <a:endParaRPr lang="en-US" sz="1800" dirty="0"/>
          </a:p>
        </p:txBody>
      </p:sp>
      <p:sp>
        <p:nvSpPr>
          <p:cNvPr id="11" name="Text 7"/>
          <p:cNvSpPr/>
          <p:nvPr/>
        </p:nvSpPr>
        <p:spPr>
          <a:xfrm>
            <a:off x="609585" y="4046081"/>
            <a:ext cx="5486263" cy="222845"/>
          </a:xfrm>
          <a:prstGeom prst="rect">
            <a:avLst/>
          </a:prstGeom>
          <a:noFill/>
          <a:ln/>
        </p:spPr>
        <p:txBody>
          <a:bodyPr wrap="none" lIns="0" tIns="0" rIns="0" bIns="0" rtlCol="0" anchor="t"/>
          <a:lstStyle/>
          <a:p>
            <a:pPr algn="l" indent="0" marL="0">
              <a:lnSpc>
                <a:spcPct val="113000"/>
              </a:lnSpc>
              <a:buNone/>
            </a:pPr>
            <a:r>
              <a:rPr lang="en-US" sz="1300" i="1" dirty="0">
                <a:solidFill>
                  <a:srgbClr val="5E5A50"/>
                </a:solidFill>
                <a:latin typeface="Lora" pitchFamily="34" charset="0"/>
                <a:ea typeface="Lora" pitchFamily="34" charset="-122"/>
                <a:cs typeface="Lora" pitchFamily="34" charset="-120"/>
              </a:rPr>
              <a:t>Water enters; oxygen leaves.</a:t>
            </a:r>
            <a:endParaRPr lang="en-US" sz="1300" dirty="0"/>
          </a:p>
        </p:txBody>
      </p:sp>
      <p:sp>
        <p:nvSpPr>
          <p:cNvPr id="12" name="Shape 8"/>
          <p:cNvSpPr/>
          <p:nvPr/>
        </p:nvSpPr>
        <p:spPr>
          <a:xfrm>
            <a:off x="6095848" y="1680766"/>
            <a:ext cx="5486263" cy="914400"/>
          </a:xfrm>
          <a:prstGeom prst="rect">
            <a:avLst/>
          </a:prstGeom>
          <a:solidFill>
            <a:srgbClr val="BDDACA"/>
          </a:solidFill>
          <a:ln/>
        </p:spPr>
      </p:sp>
      <p:sp>
        <p:nvSpPr>
          <p:cNvPr id="13" name="Shape 9"/>
          <p:cNvSpPr/>
          <p:nvPr/>
        </p:nvSpPr>
        <p:spPr>
          <a:xfrm>
            <a:off x="6095848" y="1680766"/>
            <a:ext cx="5486263" cy="914400"/>
          </a:xfrm>
          <a:prstGeom prst="rect">
            <a:avLst/>
          </a:prstGeom>
          <a:solidFill>
            <a:srgbClr val="D7F4E4"/>
          </a:solidFill>
          <a:ln/>
        </p:spPr>
      </p:sp>
      <p:sp>
        <p:nvSpPr>
          <p:cNvPr id="14" name="Text 10"/>
          <p:cNvSpPr/>
          <p:nvPr/>
        </p:nvSpPr>
        <p:spPr>
          <a:xfrm>
            <a:off x="8747402" y="1966516"/>
            <a:ext cx="792738" cy="342900"/>
          </a:xfrm>
          <a:prstGeom prst="rect">
            <a:avLst/>
          </a:prstGeom>
          <a:noFill/>
          <a:ln/>
        </p:spPr>
        <p:txBody>
          <a:bodyPr wrap="none" lIns="0" tIns="0" rIns="0" bIns="0" rtlCol="0" anchor="t"/>
          <a:lstStyle/>
          <a:p>
            <a:pPr algn="l" indent="0" marL="0">
              <a:lnSpc>
                <a:spcPct val="83000"/>
              </a:lnSpc>
              <a:buNone/>
            </a:pPr>
            <a:r>
              <a:rPr lang="en-US" sz="2700" dirty="0">
                <a:solidFill>
                  <a:srgbClr val="2C2821"/>
                </a:solidFill>
                <a:latin typeface="Lora SemiBold" pitchFamily="34" charset="0"/>
                <a:ea typeface="Lora SemiBold" pitchFamily="34" charset="-122"/>
                <a:cs typeface="Lora SemiBold" pitchFamily="34" charset="-120"/>
              </a:rPr>
              <a:t>2</a:t>
            </a:r>
            <a:endParaRPr lang="en-US" sz="2700" dirty="0"/>
          </a:p>
        </p:txBody>
      </p:sp>
      <p:sp>
        <p:nvSpPr>
          <p:cNvPr id="15" name="Text 11"/>
          <p:cNvSpPr/>
          <p:nvPr/>
        </p:nvSpPr>
        <p:spPr>
          <a:xfrm>
            <a:off x="6095848" y="2697718"/>
            <a:ext cx="5486263" cy="396180"/>
          </a:xfrm>
          <a:prstGeom prst="rect">
            <a:avLst/>
          </a:prstGeom>
          <a:noFill/>
          <a:ln/>
        </p:spPr>
        <p:txBody>
          <a:bodyPr wrap="none" lIns="0" tIns="0" rIns="0" bIns="0" rtlCol="0" anchor="t"/>
          <a:lstStyle/>
          <a:p>
            <a:pPr algn="l" indent="0" marL="0">
              <a:lnSpc>
                <a:spcPct val="108000"/>
              </a:lnSpc>
              <a:buNone/>
            </a:pPr>
            <a:r>
              <a:rPr lang="en-US" sz="2400" dirty="0">
                <a:solidFill>
                  <a:srgbClr val="233E32"/>
                </a:solidFill>
                <a:latin typeface="Lora" pitchFamily="34" charset="0"/>
                <a:ea typeface="Lora" pitchFamily="34" charset="-122"/>
                <a:cs typeface="Lora" pitchFamily="34" charset="-120"/>
              </a:rPr>
              <a:t>Calvin cycle</a:t>
            </a:r>
            <a:endParaRPr lang="en-US" sz="2400" dirty="0"/>
          </a:p>
        </p:txBody>
      </p:sp>
      <p:sp>
        <p:nvSpPr>
          <p:cNvPr id="16" name="Text 12"/>
          <p:cNvSpPr/>
          <p:nvPr/>
        </p:nvSpPr>
        <p:spPr>
          <a:xfrm>
            <a:off x="6095848" y="3248521"/>
            <a:ext cx="5486263"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The stroma uses that energy to build sugar from carbon dioxide.</a:t>
            </a:r>
            <a:endParaRPr lang="en-US" sz="1800" dirty="0"/>
          </a:p>
        </p:txBody>
      </p:sp>
      <p:sp>
        <p:nvSpPr>
          <p:cNvPr id="17" name="Text 13"/>
          <p:cNvSpPr/>
          <p:nvPr/>
        </p:nvSpPr>
        <p:spPr>
          <a:xfrm>
            <a:off x="6095848" y="4046081"/>
            <a:ext cx="5486263" cy="222845"/>
          </a:xfrm>
          <a:prstGeom prst="rect">
            <a:avLst/>
          </a:prstGeom>
          <a:noFill/>
          <a:ln/>
        </p:spPr>
        <p:txBody>
          <a:bodyPr wrap="none" lIns="0" tIns="0" rIns="0" bIns="0" rtlCol="0" anchor="t"/>
          <a:lstStyle/>
          <a:p>
            <a:pPr algn="l" indent="0" marL="0">
              <a:lnSpc>
                <a:spcPct val="113000"/>
              </a:lnSpc>
              <a:buNone/>
            </a:pPr>
            <a:r>
              <a:rPr lang="en-US" sz="1300" i="1" dirty="0">
                <a:solidFill>
                  <a:srgbClr val="5E5A50"/>
                </a:solidFill>
                <a:latin typeface="Lora" pitchFamily="34" charset="0"/>
                <a:ea typeface="Lora" pitchFamily="34" charset="-122"/>
                <a:cs typeface="Lora" pitchFamily="34" charset="-120"/>
              </a:rPr>
              <a:t>CO₂ enters; a sugar building block leaves.</a:t>
            </a:r>
            <a:endParaRPr lang="en-US" sz="1300" dirty="0"/>
          </a:p>
        </p:txBody>
      </p:sp>
      <p:sp>
        <p:nvSpPr>
          <p:cNvPr id="18" name="Shape 14"/>
          <p:cNvSpPr/>
          <p:nvPr/>
        </p:nvSpPr>
        <p:spPr>
          <a:xfrm>
            <a:off x="609585" y="4572298"/>
            <a:ext cx="10972526" cy="1451471"/>
          </a:xfrm>
          <a:prstGeom prst="rect">
            <a:avLst/>
          </a:prstGeom>
          <a:solidFill>
            <a:srgbClr val="1B5F39"/>
          </a:solidFill>
          <a:ln/>
        </p:spPr>
      </p:sp>
      <p:sp>
        <p:nvSpPr>
          <p:cNvPr id="19" name="Text 15"/>
          <p:cNvSpPr/>
          <p:nvPr/>
        </p:nvSpPr>
        <p:spPr>
          <a:xfrm>
            <a:off x="965176" y="4862175"/>
            <a:ext cx="10261343" cy="396180"/>
          </a:xfrm>
          <a:prstGeom prst="rect">
            <a:avLst/>
          </a:prstGeom>
          <a:noFill/>
          <a:ln/>
        </p:spPr>
        <p:txBody>
          <a:bodyPr wrap="none" lIns="0" tIns="0" rIns="0" bIns="0" rtlCol="0" anchor="t"/>
          <a:lstStyle/>
          <a:p>
            <a:pPr algn="ctr" indent="0" marL="0">
              <a:lnSpc>
                <a:spcPct val="108000"/>
              </a:lnSpc>
              <a:buNone/>
            </a:pPr>
            <a:r>
              <a:rPr lang="en-US" sz="2400" dirty="0">
                <a:solidFill>
                  <a:srgbClr val="FFFFFF"/>
                </a:solidFill>
                <a:latin typeface="Lora" pitchFamily="34" charset="0"/>
                <a:ea typeface="Lora" pitchFamily="34" charset="-122"/>
                <a:cs typeface="Lora" pitchFamily="34" charset="-120"/>
              </a:rPr>
              <a:t>ATP and NADPH carry energy between them</a:t>
            </a:r>
            <a:endParaRPr lang="en-US" sz="2400" dirty="0"/>
          </a:p>
        </p:txBody>
      </p:sp>
      <p:sp>
        <p:nvSpPr>
          <p:cNvPr id="20" name="Text 16"/>
          <p:cNvSpPr/>
          <p:nvPr/>
        </p:nvSpPr>
        <p:spPr>
          <a:xfrm>
            <a:off x="660383" y="5412978"/>
            <a:ext cx="10870928" cy="331391"/>
          </a:xfrm>
          <a:prstGeom prst="rect">
            <a:avLst/>
          </a:prstGeom>
          <a:noFill/>
          <a:ln/>
        </p:spPr>
        <p:txBody>
          <a:bodyPr wrap="none" lIns="0" tIns="0" rIns="0" bIns="0" rtlCol="0" anchor="t"/>
          <a:lstStyle/>
          <a:p>
            <a:pPr algn="ctr" indent="0" marL="0">
              <a:lnSpc>
                <a:spcPct val="121000"/>
              </a:lnSpc>
              <a:buNone/>
            </a:pPr>
            <a:r>
              <a:rPr lang="en-US" sz="1800" dirty="0">
                <a:solidFill>
                  <a:srgbClr val="FFFFFF"/>
                </a:solidFill>
                <a:latin typeface="Lora" pitchFamily="34" charset="0"/>
                <a:ea typeface="Lora" pitchFamily="34" charset="-122"/>
                <a:cs typeface="Lora" pitchFamily="34" charset="-120"/>
              </a:rPr>
              <a:t>ATP supplies energy. NADPH delivers high-energy electrons.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Light reactions turn sunlight into chemical energy</a:t>
            </a:r>
            <a:endParaRPr lang="en-US" sz="3400" dirty="0"/>
          </a:p>
        </p:txBody>
      </p:sp>
      <p:pic>
        <p:nvPicPr>
          <p:cNvPr id="3" name="Image 0" descr="preencoded.png">    </p:cNvPr>
          <p:cNvPicPr>
            <a:picLocks noChangeAspect="1"/>
          </p:cNvPicPr>
          <p:nvPr/>
        </p:nvPicPr>
        <p:blipFill>
          <a:blip r:embed="rId1"/>
          <a:stretch>
            <a:fillRect/>
          </a:stretch>
        </p:blipFill>
        <p:spPr>
          <a:xfrm>
            <a:off x="609585" y="1327448"/>
            <a:ext cx="279294" cy="114300"/>
          </a:xfrm>
          <a:prstGeom prst="rect">
            <a:avLst/>
          </a:prstGeom>
        </p:spPr>
      </p:pic>
      <p:sp>
        <p:nvSpPr>
          <p:cNvPr id="4" name="Shape 1"/>
          <p:cNvSpPr/>
          <p:nvPr/>
        </p:nvSpPr>
        <p:spPr>
          <a:xfrm>
            <a:off x="609585" y="1368723"/>
            <a:ext cx="362079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3951089" y="1327448"/>
            <a:ext cx="279294" cy="114300"/>
          </a:xfrm>
          <a:prstGeom prst="rect">
            <a:avLst/>
          </a:prstGeom>
        </p:spPr>
      </p:pic>
      <p:sp>
        <p:nvSpPr>
          <p:cNvPr id="6" name="Text 2"/>
          <p:cNvSpPr/>
          <p:nvPr/>
        </p:nvSpPr>
        <p:spPr>
          <a:xfrm>
            <a:off x="609585" y="1670030"/>
            <a:ext cx="11582110" cy="198041"/>
          </a:xfrm>
          <a:prstGeom prst="rect">
            <a:avLst/>
          </a:prstGeom>
          <a:noFill/>
          <a:ln/>
        </p:spPr>
        <p:txBody>
          <a:bodyPr wrap="none" lIns="0" tIns="0" rIns="0" bIns="0" rtlCol="0" anchor="t"/>
          <a:lstStyle/>
          <a:p>
            <a:pPr algn="l" indent="0" marL="0">
              <a:lnSpc>
                <a:spcPct val="100000"/>
              </a:lnSpc>
              <a:buNone/>
            </a:pPr>
            <a:r>
              <a:rPr lang="en-US" sz="1300" spc="39" kern="100" dirty="0">
                <a:solidFill>
                  <a:srgbClr val="1B5F39"/>
                </a:solidFill>
                <a:latin typeface="Lora SemiBold" pitchFamily="34" charset="0"/>
                <a:ea typeface="Lora SemiBold" pitchFamily="34" charset="-122"/>
                <a:cs typeface="Lora SemiBold" pitchFamily="34" charset="-120"/>
              </a:rPr>
              <a:t>IN THE THYLAKOID MEMBRANE</a:t>
            </a:r>
            <a:endParaRPr lang="en-US" sz="1300" dirty="0"/>
          </a:p>
        </p:txBody>
      </p:sp>
      <p:sp>
        <p:nvSpPr>
          <p:cNvPr id="7" name="Text 3"/>
          <p:cNvSpPr/>
          <p:nvPr/>
        </p:nvSpPr>
        <p:spPr>
          <a:xfrm>
            <a:off x="609585" y="2424609"/>
            <a:ext cx="843437" cy="228600"/>
          </a:xfrm>
          <a:prstGeom prst="rect">
            <a:avLst/>
          </a:prstGeom>
          <a:noFill/>
          <a:ln/>
        </p:spPr>
        <p:txBody>
          <a:bodyPr wrap="none" lIns="0" tIns="0" rIns="0" bIns="0" rtlCol="0" anchor="t"/>
          <a:lstStyle/>
          <a:p>
            <a:pPr algn="l" indent="0" marL="0">
              <a:lnSpc>
                <a:spcPct val="83000"/>
              </a:lnSpc>
              <a:buNone/>
            </a:pPr>
            <a:r>
              <a:rPr lang="en-US" sz="1800" dirty="0">
                <a:solidFill>
                  <a:srgbClr val="1B5F39"/>
                </a:solidFill>
                <a:latin typeface="Lora SemiBold" pitchFamily="34" charset="0"/>
                <a:ea typeface="Lora SemiBold" pitchFamily="34" charset="-122"/>
                <a:cs typeface="Lora SemiBold" pitchFamily="34" charset="-120"/>
              </a:rPr>
              <a:t>01</a:t>
            </a:r>
            <a:endParaRPr lang="en-US" sz="1800" dirty="0"/>
          </a:p>
        </p:txBody>
      </p:sp>
      <p:sp>
        <p:nvSpPr>
          <p:cNvPr id="8" name="Shape 4"/>
          <p:cNvSpPr/>
          <p:nvPr/>
        </p:nvSpPr>
        <p:spPr>
          <a:xfrm>
            <a:off x="609585" y="2744688"/>
            <a:ext cx="2514537" cy="19050"/>
          </a:xfrm>
          <a:prstGeom prst="rect">
            <a:avLst/>
          </a:prstGeom>
          <a:solidFill>
            <a:srgbClr val="1B5F39"/>
          </a:solidFill>
          <a:ln/>
        </p:spPr>
      </p:sp>
      <p:sp>
        <p:nvSpPr>
          <p:cNvPr id="9" name="Text 5"/>
          <p:cNvSpPr/>
          <p:nvPr/>
        </p:nvSpPr>
        <p:spPr>
          <a:xfrm>
            <a:off x="609585" y="2909431"/>
            <a:ext cx="2514537"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Split water</a:t>
            </a:r>
            <a:endParaRPr lang="en-US" sz="2100" dirty="0"/>
          </a:p>
        </p:txBody>
      </p:sp>
      <p:sp>
        <p:nvSpPr>
          <p:cNvPr id="10" name="Text 6"/>
          <p:cNvSpPr/>
          <p:nvPr/>
        </p:nvSpPr>
        <p:spPr>
          <a:xfrm>
            <a:off x="609585" y="3412629"/>
            <a:ext cx="2514537" cy="1178322"/>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Photosystem II absorbs light and splits water, releasing O₂ and supplying electrons.</a:t>
            </a:r>
            <a:endParaRPr lang="en-US" sz="1600" dirty="0"/>
          </a:p>
        </p:txBody>
      </p:sp>
      <p:sp>
        <p:nvSpPr>
          <p:cNvPr id="11" name="Text 7"/>
          <p:cNvSpPr/>
          <p:nvPr/>
        </p:nvSpPr>
        <p:spPr>
          <a:xfrm>
            <a:off x="3428914" y="2424609"/>
            <a:ext cx="875484" cy="228600"/>
          </a:xfrm>
          <a:prstGeom prst="rect">
            <a:avLst/>
          </a:prstGeom>
          <a:noFill/>
          <a:ln/>
        </p:spPr>
        <p:txBody>
          <a:bodyPr wrap="none" lIns="0" tIns="0" rIns="0" bIns="0" rtlCol="0" anchor="t"/>
          <a:lstStyle/>
          <a:p>
            <a:pPr algn="l" indent="0" marL="0">
              <a:lnSpc>
                <a:spcPct val="83000"/>
              </a:lnSpc>
              <a:buNone/>
            </a:pPr>
            <a:r>
              <a:rPr lang="en-US" sz="1800" dirty="0">
                <a:solidFill>
                  <a:srgbClr val="1B5F39"/>
                </a:solidFill>
                <a:latin typeface="Lora SemiBold" pitchFamily="34" charset="0"/>
                <a:ea typeface="Lora SemiBold" pitchFamily="34" charset="-122"/>
                <a:cs typeface="Lora SemiBold" pitchFamily="34" charset="-120"/>
              </a:rPr>
              <a:t>02</a:t>
            </a:r>
            <a:endParaRPr lang="en-US" sz="1800" dirty="0"/>
          </a:p>
        </p:txBody>
      </p:sp>
      <p:sp>
        <p:nvSpPr>
          <p:cNvPr id="12" name="Shape 8"/>
          <p:cNvSpPr/>
          <p:nvPr/>
        </p:nvSpPr>
        <p:spPr>
          <a:xfrm>
            <a:off x="3428914" y="2744688"/>
            <a:ext cx="2514537" cy="19050"/>
          </a:xfrm>
          <a:prstGeom prst="rect">
            <a:avLst/>
          </a:prstGeom>
          <a:solidFill>
            <a:srgbClr val="1B5F39"/>
          </a:solidFill>
          <a:ln/>
        </p:spPr>
      </p:sp>
      <p:sp>
        <p:nvSpPr>
          <p:cNvPr id="13" name="Text 9"/>
          <p:cNvSpPr/>
          <p:nvPr/>
        </p:nvSpPr>
        <p:spPr>
          <a:xfrm>
            <a:off x="3428914" y="2909431"/>
            <a:ext cx="2514537"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Build a gradient</a:t>
            </a:r>
            <a:endParaRPr lang="en-US" sz="2100" dirty="0"/>
          </a:p>
        </p:txBody>
      </p:sp>
      <p:sp>
        <p:nvSpPr>
          <p:cNvPr id="14" name="Text 10"/>
          <p:cNvSpPr/>
          <p:nvPr/>
        </p:nvSpPr>
        <p:spPr>
          <a:xfrm>
            <a:off x="3428914" y="3412629"/>
            <a:ext cx="2514537" cy="88374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Electrons move down the transport chain, pumping H⁺ into the thylakoid.</a:t>
            </a:r>
            <a:endParaRPr lang="en-US" sz="1600" dirty="0"/>
          </a:p>
        </p:txBody>
      </p:sp>
      <p:sp>
        <p:nvSpPr>
          <p:cNvPr id="15" name="Text 11"/>
          <p:cNvSpPr/>
          <p:nvPr/>
        </p:nvSpPr>
        <p:spPr>
          <a:xfrm>
            <a:off x="6248244" y="2424609"/>
            <a:ext cx="881636" cy="228600"/>
          </a:xfrm>
          <a:prstGeom prst="rect">
            <a:avLst/>
          </a:prstGeom>
          <a:noFill/>
          <a:ln/>
        </p:spPr>
        <p:txBody>
          <a:bodyPr wrap="none" lIns="0" tIns="0" rIns="0" bIns="0" rtlCol="0" anchor="t"/>
          <a:lstStyle/>
          <a:p>
            <a:pPr algn="l" indent="0" marL="0">
              <a:lnSpc>
                <a:spcPct val="83000"/>
              </a:lnSpc>
              <a:buNone/>
            </a:pPr>
            <a:r>
              <a:rPr lang="en-US" sz="1800" dirty="0">
                <a:solidFill>
                  <a:srgbClr val="1B5F39"/>
                </a:solidFill>
                <a:latin typeface="Lora SemiBold" pitchFamily="34" charset="0"/>
                <a:ea typeface="Lora SemiBold" pitchFamily="34" charset="-122"/>
                <a:cs typeface="Lora SemiBold" pitchFamily="34" charset="-120"/>
              </a:rPr>
              <a:t>03</a:t>
            </a:r>
            <a:endParaRPr lang="en-US" sz="1800" dirty="0"/>
          </a:p>
        </p:txBody>
      </p:sp>
      <p:sp>
        <p:nvSpPr>
          <p:cNvPr id="16" name="Shape 12"/>
          <p:cNvSpPr/>
          <p:nvPr/>
        </p:nvSpPr>
        <p:spPr>
          <a:xfrm>
            <a:off x="6248244" y="2744688"/>
            <a:ext cx="2514537" cy="19050"/>
          </a:xfrm>
          <a:prstGeom prst="rect">
            <a:avLst/>
          </a:prstGeom>
          <a:solidFill>
            <a:srgbClr val="1B5F39"/>
          </a:solidFill>
          <a:ln/>
        </p:spPr>
      </p:sp>
      <p:sp>
        <p:nvSpPr>
          <p:cNvPr id="17" name="Text 13"/>
          <p:cNvSpPr/>
          <p:nvPr/>
        </p:nvSpPr>
        <p:spPr>
          <a:xfrm>
            <a:off x="6248244" y="2909431"/>
            <a:ext cx="2514537"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Make ATP</a:t>
            </a:r>
            <a:endParaRPr lang="en-US" sz="2100" dirty="0"/>
          </a:p>
        </p:txBody>
      </p:sp>
      <p:sp>
        <p:nvSpPr>
          <p:cNvPr id="18" name="Text 14"/>
          <p:cNvSpPr/>
          <p:nvPr/>
        </p:nvSpPr>
        <p:spPr>
          <a:xfrm>
            <a:off x="6248244" y="3412629"/>
            <a:ext cx="2514537" cy="88374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H⁺ flows through ATP synthase. This flow powers ATP production.</a:t>
            </a:r>
            <a:endParaRPr lang="en-US" sz="1600" dirty="0"/>
          </a:p>
        </p:txBody>
      </p:sp>
      <p:sp>
        <p:nvSpPr>
          <p:cNvPr id="19" name="Text 15"/>
          <p:cNvSpPr/>
          <p:nvPr/>
        </p:nvSpPr>
        <p:spPr>
          <a:xfrm>
            <a:off x="9067573" y="2424609"/>
            <a:ext cx="878461" cy="228600"/>
          </a:xfrm>
          <a:prstGeom prst="rect">
            <a:avLst/>
          </a:prstGeom>
          <a:noFill/>
          <a:ln/>
        </p:spPr>
        <p:txBody>
          <a:bodyPr wrap="none" lIns="0" tIns="0" rIns="0" bIns="0" rtlCol="0" anchor="t"/>
          <a:lstStyle/>
          <a:p>
            <a:pPr algn="l" indent="0" marL="0">
              <a:lnSpc>
                <a:spcPct val="83000"/>
              </a:lnSpc>
              <a:buNone/>
            </a:pPr>
            <a:r>
              <a:rPr lang="en-US" sz="1800" dirty="0">
                <a:solidFill>
                  <a:srgbClr val="1B5F39"/>
                </a:solidFill>
                <a:latin typeface="Lora SemiBold" pitchFamily="34" charset="0"/>
                <a:ea typeface="Lora SemiBold" pitchFamily="34" charset="-122"/>
                <a:cs typeface="Lora SemiBold" pitchFamily="34" charset="-120"/>
              </a:rPr>
              <a:t>04</a:t>
            </a:r>
            <a:endParaRPr lang="en-US" sz="1800" dirty="0"/>
          </a:p>
        </p:txBody>
      </p:sp>
      <p:sp>
        <p:nvSpPr>
          <p:cNvPr id="20" name="Shape 16"/>
          <p:cNvSpPr/>
          <p:nvPr/>
        </p:nvSpPr>
        <p:spPr>
          <a:xfrm>
            <a:off x="9067573" y="2744688"/>
            <a:ext cx="2514537" cy="19050"/>
          </a:xfrm>
          <a:prstGeom prst="rect">
            <a:avLst/>
          </a:prstGeom>
          <a:solidFill>
            <a:srgbClr val="1B5F39"/>
          </a:solidFill>
          <a:ln/>
        </p:spPr>
      </p:sp>
      <p:sp>
        <p:nvSpPr>
          <p:cNvPr id="21" name="Text 17"/>
          <p:cNvSpPr/>
          <p:nvPr/>
        </p:nvSpPr>
        <p:spPr>
          <a:xfrm>
            <a:off x="9067573" y="2909431"/>
            <a:ext cx="2514537"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Make NADPH</a:t>
            </a:r>
            <a:endParaRPr lang="en-US" sz="2100" dirty="0"/>
          </a:p>
        </p:txBody>
      </p:sp>
      <p:sp>
        <p:nvSpPr>
          <p:cNvPr id="22" name="Text 18"/>
          <p:cNvSpPr/>
          <p:nvPr/>
        </p:nvSpPr>
        <p:spPr>
          <a:xfrm>
            <a:off x="9067573" y="3412629"/>
            <a:ext cx="2514537" cy="88374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Photosystem I absorbs more light and helps produce NADPH.</a:t>
            </a:r>
            <a:endParaRPr lang="en-US" sz="1600" dirty="0"/>
          </a:p>
        </p:txBody>
      </p:sp>
      <p:sp>
        <p:nvSpPr>
          <p:cNvPr id="23" name="Shape 19"/>
          <p:cNvSpPr/>
          <p:nvPr/>
        </p:nvSpPr>
        <p:spPr>
          <a:xfrm>
            <a:off x="609585" y="4895751"/>
            <a:ext cx="10972526" cy="788591"/>
          </a:xfrm>
          <a:prstGeom prst="rect">
            <a:avLst/>
          </a:prstGeom>
          <a:solidFill>
            <a:srgbClr val="E3EDDD"/>
          </a:solidFill>
          <a:ln/>
        </p:spPr>
      </p:sp>
      <p:sp>
        <p:nvSpPr>
          <p:cNvPr id="24" name="Text 20"/>
          <p:cNvSpPr/>
          <p:nvPr/>
        </p:nvSpPr>
        <p:spPr>
          <a:xfrm>
            <a:off x="838179" y="5124351"/>
            <a:ext cx="10743931" cy="331391"/>
          </a:xfrm>
          <a:prstGeom prst="rect">
            <a:avLst/>
          </a:prstGeom>
          <a:noFill/>
          <a:ln/>
        </p:spPr>
        <p:txBody>
          <a:bodyPr wrap="none" lIns="0" tIns="0" rIns="0" bIns="0" rtlCol="0" anchor="t"/>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Electron route: water → photosystem II → transport chain → photosystem I → NADPH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The Calvin cycle builds sugar from CO₂</a:t>
            </a:r>
            <a:endParaRPr lang="en-US" sz="3400" dirty="0"/>
          </a:p>
        </p:txBody>
      </p:sp>
      <p:sp>
        <p:nvSpPr>
          <p:cNvPr id="3" name="Text 1"/>
          <p:cNvSpPr/>
          <p:nvPr/>
        </p:nvSpPr>
        <p:spPr>
          <a:xfrm>
            <a:off x="609585" y="1320780"/>
            <a:ext cx="11582110" cy="198041"/>
          </a:xfrm>
          <a:prstGeom prst="rect">
            <a:avLst/>
          </a:prstGeom>
          <a:noFill/>
          <a:ln/>
        </p:spPr>
        <p:txBody>
          <a:bodyPr wrap="none" lIns="0" tIns="0" rIns="0" bIns="0" rtlCol="0" anchor="t"/>
          <a:lstStyle/>
          <a:p>
            <a:pPr algn="l" indent="0" marL="0">
              <a:lnSpc>
                <a:spcPct val="100000"/>
              </a:lnSpc>
              <a:buNone/>
            </a:pPr>
            <a:r>
              <a:rPr lang="en-US" sz="1300" spc="39" kern="100" dirty="0">
                <a:solidFill>
                  <a:srgbClr val="1B5F39"/>
                </a:solidFill>
                <a:latin typeface="Lora SemiBold" pitchFamily="34" charset="0"/>
                <a:ea typeface="Lora SemiBold" pitchFamily="34" charset="-122"/>
                <a:cs typeface="Lora SemiBold" pitchFamily="34" charset="-120"/>
              </a:rPr>
              <a:t>IN THE STROMA · ATP AND NADPH SUPPLY THE ENERGY</a:t>
            </a:r>
            <a:endParaRPr lang="en-US" sz="1300" dirty="0"/>
          </a:p>
        </p:txBody>
      </p:sp>
      <p:sp>
        <p:nvSpPr>
          <p:cNvPr id="4" name="Text 2"/>
          <p:cNvSpPr/>
          <p:nvPr/>
        </p:nvSpPr>
        <p:spPr>
          <a:xfrm>
            <a:off x="609585" y="3064470"/>
            <a:ext cx="3108843" cy="346670"/>
          </a:xfrm>
          <a:prstGeom prst="rect">
            <a:avLst/>
          </a:prstGeom>
          <a:noFill/>
          <a:ln/>
        </p:spPr>
        <p:txBody>
          <a:bodyPr wrap="none" lIns="0" tIns="0" rIns="0" bIns="0" rtlCol="0" anchor="t"/>
          <a:lstStyle/>
          <a:p>
            <a:pPr algn="r" indent="0" marL="0">
              <a:lnSpc>
                <a:spcPct val="108000"/>
              </a:lnSpc>
              <a:buNone/>
            </a:pPr>
            <a:r>
              <a:rPr lang="en-US" sz="2100" dirty="0">
                <a:solidFill>
                  <a:srgbClr val="2C2821"/>
                </a:solidFill>
                <a:latin typeface="Alice" pitchFamily="34" charset="0"/>
                <a:ea typeface="Alice" pitchFamily="34" charset="-122"/>
                <a:cs typeface="Alice" pitchFamily="34" charset="-120"/>
              </a:rPr>
              <a:t>Carbon fixation</a:t>
            </a:r>
            <a:endParaRPr lang="en-US" sz="2100" dirty="0"/>
          </a:p>
        </p:txBody>
      </p:sp>
      <p:sp>
        <p:nvSpPr>
          <p:cNvPr id="5" name="Text 3"/>
          <p:cNvSpPr/>
          <p:nvPr/>
        </p:nvSpPr>
        <p:spPr>
          <a:xfrm>
            <a:off x="609585" y="3548261"/>
            <a:ext cx="3108843" cy="662781"/>
          </a:xfrm>
          <a:prstGeom prst="rect">
            <a:avLst/>
          </a:prstGeom>
          <a:noFill/>
          <a:ln/>
        </p:spPr>
        <p:txBody>
          <a:bodyPr wrap="square" lIns="0" tIns="0" rIns="0" bIns="0" rtlCol="0" anchor="t">
            <a:normAutofit/>
          </a:bodyPr>
          <a:lstStyle/>
          <a:p>
            <a:pPr algn="r" indent="0" marL="0">
              <a:lnSpc>
                <a:spcPct val="121000"/>
              </a:lnSpc>
              <a:buNone/>
            </a:pPr>
            <a:r>
              <a:rPr lang="en-US" sz="1800" dirty="0">
                <a:solidFill>
                  <a:srgbClr val="2C2821"/>
                </a:solidFill>
                <a:latin typeface="Lora" pitchFamily="34" charset="0"/>
                <a:ea typeface="Lora" pitchFamily="34" charset="-122"/>
                <a:cs typeface="Lora" pitchFamily="34" charset="-120"/>
              </a:rPr>
              <a:t>Rubisco attaches CO₂ to RuBP.</a:t>
            </a:r>
            <a:endParaRPr lang="en-US" sz="1800" dirty="0"/>
          </a:p>
        </p:txBody>
      </p:sp>
      <p:pic>
        <p:nvPicPr>
          <p:cNvPr id="6" name="Image 0" descr="preencoded.png">    </p:cNvPr>
          <p:cNvPicPr>
            <a:picLocks noChangeAspect="1"/>
          </p:cNvPicPr>
          <p:nvPr/>
        </p:nvPicPr>
        <p:blipFill>
          <a:blip r:embed="rId1"/>
          <a:stretch>
            <a:fillRect/>
          </a:stretch>
        </p:blipFill>
        <p:spPr>
          <a:xfrm>
            <a:off x="4175616" y="1717576"/>
            <a:ext cx="3840364" cy="3840460"/>
          </a:xfrm>
          <a:prstGeom prst="rect">
            <a:avLst/>
          </a:prstGeom>
        </p:spPr>
      </p:pic>
      <p:sp>
        <p:nvSpPr>
          <p:cNvPr id="7" name="Text 4"/>
          <p:cNvSpPr/>
          <p:nvPr/>
        </p:nvSpPr>
        <p:spPr>
          <a:xfrm>
            <a:off x="4600559" y="3218458"/>
            <a:ext cx="341998" cy="376238"/>
          </a:xfrm>
          <a:prstGeom prst="rect">
            <a:avLst/>
          </a:prstGeom>
          <a:noFill/>
          <a:ln/>
        </p:spPr>
        <p:txBody>
          <a:bodyPr wrap="none" lIns="0" tIns="0" rIns="0" bIns="0" rtlCol="0" anchor="ctr"/>
          <a:lstStyle/>
          <a:p>
            <a:pPr algn="ctr" indent="0" marL="0">
              <a:lnSpc>
                <a:spcPct val="100000"/>
              </a:lnSpc>
              <a:buNone/>
            </a:pPr>
            <a:r>
              <a:rPr lang="en-US" sz="2700" dirty="0">
                <a:solidFill>
                  <a:srgbClr val="2C2821"/>
                </a:solidFill>
                <a:latin typeface="Alice" pitchFamily="34" charset="0"/>
                <a:ea typeface="Alice" pitchFamily="34" charset="-122"/>
                <a:cs typeface="Alice" pitchFamily="34" charset="-120"/>
              </a:rPr>
              <a:t>1</a:t>
            </a:r>
            <a:endParaRPr lang="en-US" sz="2700" dirty="0"/>
          </a:p>
        </p:txBody>
      </p:sp>
      <p:sp>
        <p:nvSpPr>
          <p:cNvPr id="8" name="Text 5"/>
          <p:cNvSpPr/>
          <p:nvPr/>
        </p:nvSpPr>
        <p:spPr>
          <a:xfrm>
            <a:off x="8358871" y="2101453"/>
            <a:ext cx="3223239" cy="346670"/>
          </a:xfrm>
          <a:prstGeom prst="rect">
            <a:avLst/>
          </a:prstGeom>
          <a:noFill/>
          <a:ln/>
        </p:spPr>
        <p:txBody>
          <a:bodyPr wrap="none" lIns="0" tIns="0" rIns="0" bIns="0" rtlCol="0" anchor="t"/>
          <a:lstStyle/>
          <a:p>
            <a:pPr algn="l" indent="0" marL="0">
              <a:lnSpc>
                <a:spcPct val="108000"/>
              </a:lnSpc>
              <a:buNone/>
            </a:pPr>
            <a:r>
              <a:rPr lang="en-US" sz="2100" dirty="0">
                <a:solidFill>
                  <a:srgbClr val="2C2821"/>
                </a:solidFill>
                <a:latin typeface="Alice" pitchFamily="34" charset="0"/>
                <a:ea typeface="Alice" pitchFamily="34" charset="-122"/>
                <a:cs typeface="Alice" pitchFamily="34" charset="-120"/>
              </a:rPr>
              <a:t>Reduction</a:t>
            </a:r>
            <a:endParaRPr lang="en-US" sz="2100" dirty="0"/>
          </a:p>
        </p:txBody>
      </p:sp>
      <p:sp>
        <p:nvSpPr>
          <p:cNvPr id="9" name="Text 6"/>
          <p:cNvSpPr/>
          <p:nvPr/>
        </p:nvSpPr>
        <p:spPr>
          <a:xfrm>
            <a:off x="8358871" y="2585244"/>
            <a:ext cx="3223239" cy="331391"/>
          </a:xfrm>
          <a:prstGeom prst="rect">
            <a:avLst/>
          </a:prstGeom>
          <a:noFill/>
          <a:ln/>
        </p:spPr>
        <p:txBody>
          <a:bodyPr wrap="none" lIns="0" tIns="0" rIns="0" bIns="0" rtlCol="0" anchor="t"/>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ATP and NADPH make G3P.</a:t>
            </a:r>
            <a:endParaRPr lang="en-US" sz="1800" dirty="0"/>
          </a:p>
        </p:txBody>
      </p:sp>
      <p:pic>
        <p:nvPicPr>
          <p:cNvPr id="10" name="Image 1" descr="preencoded.png">    </p:cNvPr>
          <p:cNvPicPr>
            <a:picLocks noChangeAspect="1"/>
          </p:cNvPicPr>
          <p:nvPr/>
        </p:nvPicPr>
        <p:blipFill>
          <a:blip r:embed="rId2"/>
          <a:stretch>
            <a:fillRect/>
          </a:stretch>
        </p:blipFill>
        <p:spPr>
          <a:xfrm>
            <a:off x="4175616" y="1717576"/>
            <a:ext cx="3840364" cy="3840460"/>
          </a:xfrm>
          <a:prstGeom prst="rect">
            <a:avLst/>
          </a:prstGeom>
        </p:spPr>
      </p:pic>
      <p:sp>
        <p:nvSpPr>
          <p:cNvPr id="11" name="Text 7"/>
          <p:cNvSpPr/>
          <p:nvPr/>
        </p:nvSpPr>
        <p:spPr>
          <a:xfrm>
            <a:off x="6786790" y="2418457"/>
            <a:ext cx="341998" cy="376238"/>
          </a:xfrm>
          <a:prstGeom prst="rect">
            <a:avLst/>
          </a:prstGeom>
          <a:noFill/>
          <a:ln/>
        </p:spPr>
        <p:txBody>
          <a:bodyPr wrap="none" lIns="0" tIns="0" rIns="0" bIns="0" rtlCol="0" anchor="ctr"/>
          <a:lstStyle/>
          <a:p>
            <a:pPr algn="ctr" indent="0" marL="0">
              <a:lnSpc>
                <a:spcPct val="100000"/>
              </a:lnSpc>
              <a:buNone/>
            </a:pPr>
            <a:r>
              <a:rPr lang="en-US" sz="2700" dirty="0">
                <a:solidFill>
                  <a:srgbClr val="2C2821"/>
                </a:solidFill>
                <a:latin typeface="Alice" pitchFamily="34" charset="0"/>
                <a:ea typeface="Alice" pitchFamily="34" charset="-122"/>
                <a:cs typeface="Alice" pitchFamily="34" charset="-120"/>
              </a:rPr>
              <a:t>2</a:t>
            </a:r>
            <a:endParaRPr lang="en-US" sz="2700" dirty="0"/>
          </a:p>
        </p:txBody>
      </p:sp>
      <p:sp>
        <p:nvSpPr>
          <p:cNvPr id="12" name="Text 8"/>
          <p:cNvSpPr/>
          <p:nvPr/>
        </p:nvSpPr>
        <p:spPr>
          <a:xfrm>
            <a:off x="8358871" y="4027488"/>
            <a:ext cx="3223239" cy="346670"/>
          </a:xfrm>
          <a:prstGeom prst="rect">
            <a:avLst/>
          </a:prstGeom>
          <a:noFill/>
          <a:ln/>
        </p:spPr>
        <p:txBody>
          <a:bodyPr wrap="none" lIns="0" tIns="0" rIns="0" bIns="0" rtlCol="0" anchor="t"/>
          <a:lstStyle/>
          <a:p>
            <a:pPr algn="l" indent="0" marL="0">
              <a:lnSpc>
                <a:spcPct val="108000"/>
              </a:lnSpc>
              <a:buNone/>
            </a:pPr>
            <a:r>
              <a:rPr lang="en-US" sz="2100" dirty="0">
                <a:solidFill>
                  <a:srgbClr val="2C2821"/>
                </a:solidFill>
                <a:latin typeface="Alice" pitchFamily="34" charset="0"/>
                <a:ea typeface="Alice" pitchFamily="34" charset="-122"/>
                <a:cs typeface="Alice" pitchFamily="34" charset="-120"/>
              </a:rPr>
              <a:t>Regeneration</a:t>
            </a:r>
            <a:endParaRPr lang="en-US" sz="2100" dirty="0"/>
          </a:p>
        </p:txBody>
      </p:sp>
      <p:sp>
        <p:nvSpPr>
          <p:cNvPr id="13" name="Text 9"/>
          <p:cNvSpPr/>
          <p:nvPr/>
        </p:nvSpPr>
        <p:spPr>
          <a:xfrm>
            <a:off x="8358871" y="4511278"/>
            <a:ext cx="3223239"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Most G3P rebuilds RuBP so the cycle continues.</a:t>
            </a:r>
            <a:endParaRPr lang="en-US" sz="1800" dirty="0"/>
          </a:p>
        </p:txBody>
      </p:sp>
      <p:pic>
        <p:nvPicPr>
          <p:cNvPr id="14" name="Image 2" descr="preencoded.png">    </p:cNvPr>
          <p:cNvPicPr>
            <a:picLocks noChangeAspect="1"/>
          </p:cNvPicPr>
          <p:nvPr/>
        </p:nvPicPr>
        <p:blipFill>
          <a:blip r:embed="rId3"/>
          <a:stretch>
            <a:fillRect/>
          </a:stretch>
        </p:blipFill>
        <p:spPr>
          <a:xfrm>
            <a:off x="4175616" y="1717576"/>
            <a:ext cx="3840364" cy="3840460"/>
          </a:xfrm>
          <a:prstGeom prst="rect">
            <a:avLst/>
          </a:prstGeom>
        </p:spPr>
      </p:pic>
      <p:sp>
        <p:nvSpPr>
          <p:cNvPr id="15" name="Text 10"/>
          <p:cNvSpPr/>
          <p:nvPr/>
        </p:nvSpPr>
        <p:spPr>
          <a:xfrm>
            <a:off x="6386551" y="4711898"/>
            <a:ext cx="341998" cy="376238"/>
          </a:xfrm>
          <a:prstGeom prst="rect">
            <a:avLst/>
          </a:prstGeom>
          <a:noFill/>
          <a:ln/>
        </p:spPr>
        <p:txBody>
          <a:bodyPr wrap="none" lIns="0" tIns="0" rIns="0" bIns="0" rtlCol="0" anchor="ctr"/>
          <a:lstStyle/>
          <a:p>
            <a:pPr algn="ctr" indent="0" marL="0">
              <a:lnSpc>
                <a:spcPct val="100000"/>
              </a:lnSpc>
              <a:buNone/>
            </a:pPr>
            <a:r>
              <a:rPr lang="en-US" sz="2700" dirty="0">
                <a:solidFill>
                  <a:srgbClr val="2C2821"/>
                </a:solidFill>
                <a:latin typeface="Alice" pitchFamily="34" charset="0"/>
                <a:ea typeface="Alice" pitchFamily="34" charset="-122"/>
                <a:cs typeface="Alice" pitchFamily="34" charset="-120"/>
              </a:rPr>
              <a:t>3</a:t>
            </a:r>
            <a:endParaRPr lang="en-US" sz="2700" dirty="0"/>
          </a:p>
        </p:txBody>
      </p:sp>
      <p:sp>
        <p:nvSpPr>
          <p:cNvPr id="16" name="Text 11"/>
          <p:cNvSpPr/>
          <p:nvPr/>
        </p:nvSpPr>
        <p:spPr>
          <a:xfrm>
            <a:off x="304792" y="5764411"/>
            <a:ext cx="11582110" cy="331391"/>
          </a:xfrm>
          <a:prstGeom prst="rect">
            <a:avLst/>
          </a:prstGeom>
          <a:noFill/>
          <a:ln/>
        </p:spPr>
        <p:txBody>
          <a:bodyPr wrap="none" lIns="0" tIns="0" rIns="0" bIns="0" rtlCol="0" anchor="t"/>
          <a:lstStyle/>
          <a:p>
            <a:pPr algn="ctr" indent="0" marL="0">
              <a:lnSpc>
                <a:spcPct val="121000"/>
              </a:lnSpc>
              <a:buNone/>
            </a:pPr>
            <a:r>
              <a:rPr lang="en-US" sz="1800" dirty="0">
                <a:solidFill>
                  <a:srgbClr val="2C2821"/>
                </a:solidFill>
                <a:latin typeface="Lora" pitchFamily="34" charset="0"/>
                <a:ea typeface="Lora" pitchFamily="34" charset="-122"/>
                <a:cs typeface="Lora" pitchFamily="34" charset="-120"/>
              </a:rPr>
              <a:t>Some G3P leaves to build glucose and other carbohydrates.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24596"/>
            <a:ext cx="10972526" cy="474960"/>
          </a:xfrm>
          <a:prstGeom prst="rect">
            <a:avLst/>
          </a:prstGeom>
          <a:noFill/>
          <a:ln/>
        </p:spPr>
        <p:txBody>
          <a:bodyPr wrap="none" lIns="0" tIns="0" rIns="0" bIns="0" rtlCol="0" anchor="t"/>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Light, CO₂, and temperature set the pace</a:t>
            </a:r>
            <a:endParaRPr lang="en-US" sz="3400" dirty="0"/>
          </a:p>
        </p:txBody>
      </p:sp>
      <p:pic>
        <p:nvPicPr>
          <p:cNvPr id="3" name="Image 0" descr="preencoded.png">    </p:cNvPr>
          <p:cNvPicPr>
            <a:picLocks noChangeAspect="1"/>
          </p:cNvPicPr>
          <p:nvPr/>
        </p:nvPicPr>
        <p:blipFill>
          <a:blip r:embed="rId1"/>
          <a:stretch>
            <a:fillRect/>
          </a:stretch>
        </p:blipFill>
        <p:spPr>
          <a:xfrm>
            <a:off x="609585" y="1327448"/>
            <a:ext cx="279294" cy="114300"/>
          </a:xfrm>
          <a:prstGeom prst="rect">
            <a:avLst/>
          </a:prstGeom>
        </p:spPr>
      </p:pic>
      <p:sp>
        <p:nvSpPr>
          <p:cNvPr id="4" name="Shape 1"/>
          <p:cNvSpPr/>
          <p:nvPr/>
        </p:nvSpPr>
        <p:spPr>
          <a:xfrm>
            <a:off x="609585" y="1368723"/>
            <a:ext cx="362079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3951089" y="1327448"/>
            <a:ext cx="279294" cy="114300"/>
          </a:xfrm>
          <a:prstGeom prst="rect">
            <a:avLst/>
          </a:prstGeom>
        </p:spPr>
      </p:pic>
      <p:sp>
        <p:nvSpPr>
          <p:cNvPr id="6" name="Text 2"/>
          <p:cNvSpPr/>
          <p:nvPr/>
        </p:nvSpPr>
        <p:spPr>
          <a:xfrm>
            <a:off x="609585" y="1662410"/>
            <a:ext cx="10972526" cy="662781"/>
          </a:xfrm>
          <a:prstGeom prst="rect">
            <a:avLst/>
          </a:prstGeom>
          <a:noFill/>
          <a:ln/>
        </p:spPr>
        <p:txBody>
          <a:bodyPr wrap="square" lIns="0" tIns="0" rIns="0" bIns="0" rtlCol="0" anchor="t">
            <a:normAutofit/>
          </a:bodyPr>
          <a:lstStyle/>
          <a:p>
            <a:pPr algn="l" indent="0" marL="0">
              <a:lnSpc>
                <a:spcPct val="121000"/>
              </a:lnSpc>
              <a:buNone/>
            </a:pPr>
            <a:r>
              <a:rPr lang="en-US" sz="1800" dirty="0">
                <a:solidFill>
                  <a:srgbClr val="2C2821"/>
                </a:solidFill>
                <a:latin typeface="Lora" pitchFamily="34" charset="0"/>
                <a:ea typeface="Lora" pitchFamily="34" charset="-122"/>
                <a:cs typeface="Lora" pitchFamily="34" charset="-120"/>
              </a:rPr>
              <a:t>More light speeds photosynthesis until it plateaus. Low CO₂ or extreme heat can slow the process, including enzymes like rubisco.</a:t>
            </a:r>
            <a:endParaRPr lang="en-US" sz="1800" dirty="0"/>
          </a:p>
        </p:txBody>
      </p:sp>
      <p:sp>
        <p:nvSpPr>
          <p:cNvPr id="7" name="Shape 3"/>
          <p:cNvSpPr/>
          <p:nvPr/>
        </p:nvSpPr>
        <p:spPr>
          <a:xfrm>
            <a:off x="609585" y="2668786"/>
            <a:ext cx="3428914" cy="1928813"/>
          </a:xfrm>
          <a:prstGeom prst="roundRect">
            <a:avLst>
              <a:gd name="adj" fmla="val 12642"/>
            </a:avLst>
          </a:prstGeom>
          <a:noFill/>
          <a:ln w="50799">
            <a:solidFill>
              <a:srgbClr val="FAF9F4"/>
            </a:solidFill>
            <a:prstDash val="solid"/>
          </a:ln>
        </p:spPr>
      </p:sp>
      <p:pic>
        <p:nvPicPr>
          <p:cNvPr id="8" name="Image 2" descr="preencoded.png">    </p:cNvPr>
          <p:cNvPicPr>
            <a:picLocks noChangeAspect="1"/>
          </p:cNvPicPr>
          <p:nvPr/>
        </p:nvPicPr>
        <p:blipFill>
          <a:blip r:embed="rId3"/>
          <a:stretch>
            <a:fillRect/>
          </a:stretch>
        </p:blipFill>
        <p:spPr>
          <a:xfrm>
            <a:off x="609585" y="2668786"/>
            <a:ext cx="3428914" cy="1928813"/>
          </a:xfrm>
          <a:prstGeom prst="rect">
            <a:avLst/>
          </a:prstGeom>
        </p:spPr>
      </p:pic>
      <p:sp>
        <p:nvSpPr>
          <p:cNvPr id="9" name="Text 4"/>
          <p:cNvSpPr/>
          <p:nvPr/>
        </p:nvSpPr>
        <p:spPr>
          <a:xfrm>
            <a:off x="609585" y="4812546"/>
            <a:ext cx="3454314"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C3 · Bean</a:t>
            </a:r>
            <a:endParaRPr lang="en-US" sz="2100" dirty="0"/>
          </a:p>
        </p:txBody>
      </p:sp>
      <p:sp>
        <p:nvSpPr>
          <p:cNvPr id="10" name="Text 5"/>
          <p:cNvSpPr/>
          <p:nvPr/>
        </p:nvSpPr>
        <p:spPr>
          <a:xfrm>
            <a:off x="609585" y="5315744"/>
            <a:ext cx="3454314" cy="58916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The usual pathway works well in milder conditions.</a:t>
            </a:r>
            <a:endParaRPr lang="en-US" sz="1600" dirty="0"/>
          </a:p>
        </p:txBody>
      </p:sp>
      <p:sp>
        <p:nvSpPr>
          <p:cNvPr id="11" name="Shape 6"/>
          <p:cNvSpPr/>
          <p:nvPr/>
        </p:nvSpPr>
        <p:spPr>
          <a:xfrm>
            <a:off x="4368691" y="2668786"/>
            <a:ext cx="3428914" cy="1928813"/>
          </a:xfrm>
          <a:prstGeom prst="roundRect">
            <a:avLst>
              <a:gd name="adj" fmla="val 12642"/>
            </a:avLst>
          </a:prstGeom>
          <a:noFill/>
          <a:ln w="50799">
            <a:solidFill>
              <a:srgbClr val="FAF9F4"/>
            </a:solidFill>
            <a:prstDash val="solid"/>
          </a:ln>
        </p:spPr>
      </p:sp>
      <p:pic>
        <p:nvPicPr>
          <p:cNvPr id="12" name="Image 3" descr="preencoded.png">    </p:cNvPr>
          <p:cNvPicPr>
            <a:picLocks noChangeAspect="1"/>
          </p:cNvPicPr>
          <p:nvPr/>
        </p:nvPicPr>
        <p:blipFill>
          <a:blip r:embed="rId4"/>
          <a:stretch>
            <a:fillRect/>
          </a:stretch>
        </p:blipFill>
        <p:spPr>
          <a:xfrm>
            <a:off x="4368691" y="2668786"/>
            <a:ext cx="3428914" cy="1928813"/>
          </a:xfrm>
          <a:prstGeom prst="rect">
            <a:avLst/>
          </a:prstGeom>
        </p:spPr>
      </p:pic>
      <p:sp>
        <p:nvSpPr>
          <p:cNvPr id="13" name="Text 7"/>
          <p:cNvSpPr/>
          <p:nvPr/>
        </p:nvSpPr>
        <p:spPr>
          <a:xfrm>
            <a:off x="4368691" y="4812546"/>
            <a:ext cx="3454314"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C4 · Corn</a:t>
            </a:r>
            <a:endParaRPr lang="en-US" sz="2100" dirty="0"/>
          </a:p>
        </p:txBody>
      </p:sp>
      <p:sp>
        <p:nvSpPr>
          <p:cNvPr id="14" name="Text 8"/>
          <p:cNvSpPr/>
          <p:nvPr/>
        </p:nvSpPr>
        <p:spPr>
          <a:xfrm>
            <a:off x="4368691" y="5315744"/>
            <a:ext cx="3454314" cy="58916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Concentrates CO₂ around rubisco in hot, sunny conditions.</a:t>
            </a:r>
            <a:endParaRPr lang="en-US" sz="1600" dirty="0"/>
          </a:p>
        </p:txBody>
      </p:sp>
      <p:sp>
        <p:nvSpPr>
          <p:cNvPr id="15" name="Shape 9"/>
          <p:cNvSpPr/>
          <p:nvPr/>
        </p:nvSpPr>
        <p:spPr>
          <a:xfrm>
            <a:off x="8127797" y="2668786"/>
            <a:ext cx="3428914" cy="1928813"/>
          </a:xfrm>
          <a:prstGeom prst="roundRect">
            <a:avLst>
              <a:gd name="adj" fmla="val 12642"/>
            </a:avLst>
          </a:prstGeom>
          <a:noFill/>
          <a:ln w="50799">
            <a:solidFill>
              <a:srgbClr val="FAF9F4"/>
            </a:solidFill>
            <a:prstDash val="solid"/>
          </a:ln>
        </p:spPr>
      </p:sp>
      <p:pic>
        <p:nvPicPr>
          <p:cNvPr id="16" name="Image 4" descr="preencoded.png">    </p:cNvPr>
          <p:cNvPicPr>
            <a:picLocks noChangeAspect="1"/>
          </p:cNvPicPr>
          <p:nvPr/>
        </p:nvPicPr>
        <p:blipFill>
          <a:blip r:embed="rId5"/>
          <a:stretch>
            <a:fillRect/>
          </a:stretch>
        </p:blipFill>
        <p:spPr>
          <a:xfrm>
            <a:off x="8127797" y="2668786"/>
            <a:ext cx="3428914" cy="1928813"/>
          </a:xfrm>
          <a:prstGeom prst="rect">
            <a:avLst/>
          </a:prstGeom>
        </p:spPr>
      </p:pic>
      <p:sp>
        <p:nvSpPr>
          <p:cNvPr id="17" name="Text 10"/>
          <p:cNvSpPr/>
          <p:nvPr/>
        </p:nvSpPr>
        <p:spPr>
          <a:xfrm>
            <a:off x="8127797" y="4812546"/>
            <a:ext cx="3454314" cy="346670"/>
          </a:xfrm>
          <a:prstGeom prst="rect">
            <a:avLst/>
          </a:prstGeom>
          <a:noFill/>
          <a:ln/>
        </p:spPr>
        <p:txBody>
          <a:bodyPr wrap="none" lIns="0" tIns="0" rIns="0" bIns="0" rtlCol="0" anchor="t"/>
          <a:lstStyle/>
          <a:p>
            <a:pPr algn="l" indent="0" marL="0">
              <a:lnSpc>
                <a:spcPct val="108000"/>
              </a:lnSpc>
              <a:buNone/>
            </a:pPr>
            <a:r>
              <a:rPr lang="en-US" sz="2100" dirty="0">
                <a:solidFill>
                  <a:srgbClr val="233E32"/>
                </a:solidFill>
                <a:latin typeface="Lora" pitchFamily="34" charset="0"/>
                <a:ea typeface="Lora" pitchFamily="34" charset="-122"/>
                <a:cs typeface="Lora" pitchFamily="34" charset="-120"/>
              </a:rPr>
              <a:t>CAM · Cactus</a:t>
            </a:r>
            <a:endParaRPr lang="en-US" sz="2100" dirty="0"/>
          </a:p>
        </p:txBody>
      </p:sp>
      <p:sp>
        <p:nvSpPr>
          <p:cNvPr id="18" name="Text 11"/>
          <p:cNvSpPr/>
          <p:nvPr/>
        </p:nvSpPr>
        <p:spPr>
          <a:xfrm>
            <a:off x="8127797" y="5315744"/>
            <a:ext cx="3454314" cy="589161"/>
          </a:xfrm>
          <a:prstGeom prst="rect">
            <a:avLst/>
          </a:prstGeom>
          <a:noFill/>
          <a:ln/>
        </p:spPr>
        <p:txBody>
          <a:bodyPr wrap="square" lIns="0" tIns="0" rIns="0" bIns="0" rtlCol="0" anchor="t">
            <a:normAutofit/>
          </a:bodyPr>
          <a:lstStyle/>
          <a:p>
            <a:pPr algn="l" indent="0" marL="0">
              <a:lnSpc>
                <a:spcPct val="121000"/>
              </a:lnSpc>
              <a:buNone/>
            </a:pPr>
            <a:r>
              <a:rPr lang="en-US" sz="1600" dirty="0">
                <a:solidFill>
                  <a:srgbClr val="2C2821"/>
                </a:solidFill>
                <a:latin typeface="Lora" pitchFamily="34" charset="0"/>
                <a:ea typeface="Lora" pitchFamily="34" charset="-122"/>
                <a:cs typeface="Lora" pitchFamily="34" charset="-120"/>
              </a:rPr>
              <a:t>Takes in CO₂ at night to save water in dry climates.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4596"/>
            <a:ext cx="6095848" cy="949920"/>
          </a:xfrm>
          <a:prstGeom prst="rect">
            <a:avLst/>
          </a:prstGeom>
          <a:noFill/>
          <a:ln/>
        </p:spPr>
        <p:txBody>
          <a:bodyPr wrap="square" lIns="0" tIns="0" rIns="0" bIns="0" rtlCol="0" anchor="t">
            <a:normAutofit/>
          </a:bodyPr>
          <a:lstStyle/>
          <a:p>
            <a:pPr algn="l" indent="0" marL="0">
              <a:lnSpc>
                <a:spcPct val="92000"/>
              </a:lnSpc>
              <a:buNone/>
            </a:pPr>
            <a:r>
              <a:rPr lang="en-US" sz="3400" dirty="0">
                <a:solidFill>
                  <a:srgbClr val="233E32"/>
                </a:solidFill>
                <a:latin typeface="Alice" pitchFamily="34" charset="0"/>
                <a:ea typeface="Alice" pitchFamily="34" charset="-122"/>
                <a:cs typeface="Alice" pitchFamily="34" charset="-120"/>
              </a:rPr>
              <a:t>Photosynthesis powers life and shapes our climate</a:t>
            </a:r>
            <a:endParaRPr lang="en-US" sz="3400" dirty="0"/>
          </a:p>
        </p:txBody>
      </p:sp>
      <p:pic>
        <p:nvPicPr>
          <p:cNvPr id="3" name="Image 0" descr="preencoded.png">    </p:cNvPr>
          <p:cNvPicPr>
            <a:picLocks noChangeAspect="1"/>
          </p:cNvPicPr>
          <p:nvPr/>
        </p:nvPicPr>
        <p:blipFill>
          <a:blip r:embed="rId1"/>
          <a:stretch>
            <a:fillRect/>
          </a:stretch>
        </p:blipFill>
        <p:spPr>
          <a:xfrm>
            <a:off x="609585" y="1802408"/>
            <a:ext cx="279294" cy="114300"/>
          </a:xfrm>
          <a:prstGeom prst="rect">
            <a:avLst/>
          </a:prstGeom>
        </p:spPr>
      </p:pic>
      <p:sp>
        <p:nvSpPr>
          <p:cNvPr id="4" name="Shape 1"/>
          <p:cNvSpPr/>
          <p:nvPr/>
        </p:nvSpPr>
        <p:spPr>
          <a:xfrm>
            <a:off x="609585" y="1843683"/>
            <a:ext cx="6095848" cy="31651"/>
          </a:xfrm>
          <a:prstGeom prst="roundRect">
            <a:avLst>
              <a:gd name="adj" fmla="val 49998"/>
            </a:avLst>
          </a:prstGeom>
          <a:solidFill>
            <a:srgbClr val="1B5F39"/>
          </a:solidFill>
          <a:ln/>
        </p:spPr>
      </p:sp>
      <p:pic>
        <p:nvPicPr>
          <p:cNvPr id="5" name="Image 1" descr="preencoded.png">    </p:cNvPr>
          <p:cNvPicPr>
            <a:picLocks noChangeAspect="1"/>
          </p:cNvPicPr>
          <p:nvPr/>
        </p:nvPicPr>
        <p:blipFill>
          <a:blip r:embed="rId2"/>
          <a:stretch>
            <a:fillRect/>
          </a:stretch>
        </p:blipFill>
        <p:spPr>
          <a:xfrm>
            <a:off x="6426039" y="1802408"/>
            <a:ext cx="279294" cy="114300"/>
          </a:xfrm>
          <a:prstGeom prst="rect">
            <a:avLst/>
          </a:prstGeom>
        </p:spPr>
      </p:pic>
      <p:sp>
        <p:nvSpPr>
          <p:cNvPr id="6" name="Text 2"/>
          <p:cNvSpPr/>
          <p:nvPr/>
        </p:nvSpPr>
        <p:spPr>
          <a:xfrm>
            <a:off x="609585" y="2137370"/>
            <a:ext cx="6095848" cy="2102644"/>
          </a:xfrm>
          <a:prstGeom prst="rect">
            <a:avLst/>
          </a:prstGeom>
          <a:noFill/>
          <a:ln/>
        </p:spPr>
        <p:txBody>
          <a:bodyPr wrap="square" lIns="0" tIns="0" rIns="0" bIns="0" rtlCol="0" anchor="t">
            <a:normAutofit/>
          </a:bodyPr>
          <a:lstStyle/>
          <a:p>
            <a:pPr algn="l" marL="365760" indent="-365760">
              <a:lnSpc>
                <a:spcPct val="121000"/>
              </a:lnSpc>
              <a:buSzPct val="100000"/>
              <a:buChar char="•"/>
            </a:pPr>
            <a:r>
              <a:rPr lang="en-US" sz="1800" dirty="0">
                <a:solidFill>
                  <a:srgbClr val="2C2821"/>
                </a:solidFill>
                <a:latin typeface="Lora" pitchFamily="34" charset="0"/>
                <a:ea typeface="Lora" pitchFamily="34" charset="-122"/>
                <a:cs typeface="Lora" pitchFamily="34" charset="-120"/>
              </a:rPr>
              <a:t>Photosynthesis supplies the food and oxygen that sustain ecosystems.</a:t>
            </a:r>
            <a:endParaRPr lang="en-US" sz="1800" dirty="0"/>
          </a:p>
          <a:p>
            <a:pPr algn="l" marL="365760" indent="-365760">
              <a:lnSpc>
                <a:spcPct val="121000"/>
              </a:lnSpc>
              <a:buSzPct val="100000"/>
              <a:buChar char="•"/>
            </a:pPr>
            <a:r>
              <a:rPr lang="en-US" sz="1800" dirty="0">
                <a:solidFill>
                  <a:srgbClr val="2C2821"/>
                </a:solidFill>
                <a:latin typeface="Lora" pitchFamily="34" charset="0"/>
                <a:ea typeface="Lora" pitchFamily="34" charset="-122"/>
                <a:cs typeface="Lora" pitchFamily="34" charset="-120"/>
              </a:rPr>
              <a:t>It removes CO₂ from the atmosphere and stores carbon in living material.</a:t>
            </a:r>
            <a:endParaRPr lang="en-US" sz="1800" dirty="0"/>
          </a:p>
          <a:p>
            <a:pPr algn="l" marL="365760" indent="-365760">
              <a:lnSpc>
                <a:spcPct val="121000"/>
              </a:lnSpc>
              <a:buSzPct val="100000"/>
              <a:buChar char="•"/>
            </a:pPr>
            <a:r>
              <a:rPr lang="en-US" sz="1800" dirty="0">
                <a:solidFill>
                  <a:srgbClr val="2C2821"/>
                </a:solidFill>
                <a:latin typeface="Lora" pitchFamily="34" charset="0"/>
                <a:ea typeface="Lora" pitchFamily="34" charset="-122"/>
                <a:cs typeface="Lora" pitchFamily="34" charset="-120"/>
              </a:rPr>
              <a:t>Fossil fuels hold energy captured by photosynthetic organisms long ago.</a:t>
            </a:r>
            <a:endParaRPr lang="en-US" sz="1800" dirty="0"/>
          </a:p>
        </p:txBody>
      </p:sp>
      <p:pic>
        <p:nvPicPr>
          <p:cNvPr id="7" name="Image 2" descr="preencoded.png">    </p:cNvPr>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2026-10-08T12:53:47Z</dcterms:created>
  <dcterms:modified xsi:type="dcterms:W3CDTF">2026-10-08T12:53:47Z</dcterms:modified>
</cp:coreProperties>
</file>