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Radley" charset="1" panose="00000500000000000000"/>
      <p:regular r:id="rId11"/>
    </p:embeddedFont>
    <p:embeddedFont>
      <p:font typeface="Carlito" charset="1" panose="020F0502020204030204"/>
      <p:regular r:id="rId12"/>
    </p:embeddedFont>
    <p:embeddedFont>
      <p:font typeface="Radley Italics" charset="1" panose="00000500000000000000"/>
      <p:regular r:id="rId13"/>
    </p:embeddedFont>
    <p:embeddedFont>
      <p:font typeface="Carlito Bold" charset="1" panose="020F050202020403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A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81575" y="3352800"/>
            <a:ext cx="8324850" cy="6934200"/>
            <a:chOff x="0" y="0"/>
            <a:chExt cx="1289737" cy="10742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9737" cy="1074289"/>
            </a:xfrm>
            <a:custGeom>
              <a:avLst/>
              <a:gdLst/>
              <a:ahLst/>
              <a:cxnLst/>
              <a:rect r="r" b="b" t="t" l="l"/>
              <a:pathLst>
                <a:path h="1074289" w="1289737">
                  <a:moveTo>
                    <a:pt x="0" y="0"/>
                  </a:moveTo>
                  <a:lnTo>
                    <a:pt x="1289737" y="0"/>
                  </a:lnTo>
                  <a:lnTo>
                    <a:pt x="1289737" y="1074289"/>
                  </a:lnTo>
                  <a:lnTo>
                    <a:pt x="0" y="1074289"/>
                  </a:lnTo>
                  <a:close/>
                </a:path>
              </a:pathLst>
            </a:custGeom>
            <a:blipFill>
              <a:blip r:embed="rId2"/>
              <a:stretch>
                <a:fillRect l="-102" t="0" r="-10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16954500" cy="2172955"/>
            <a:chOff x="0" y="0"/>
            <a:chExt cx="22606000" cy="2897274"/>
          </a:xfrm>
        </p:grpSpPr>
        <p:sp>
          <p:nvSpPr>
            <p:cNvPr name="AutoShape 5" id="5"/>
            <p:cNvSpPr/>
            <p:nvPr/>
          </p:nvSpPr>
          <p:spPr>
            <a:xfrm>
              <a:off x="0" y="2884574"/>
              <a:ext cx="22606000" cy="0"/>
            </a:xfrm>
            <a:prstGeom prst="line">
              <a:avLst/>
            </a:prstGeom>
            <a:ln cap="flat" w="25400">
              <a:solidFill>
                <a:srgbClr val="4E3B1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66700"/>
              <a:ext cx="22606000" cy="26305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4299"/>
                </a:lnSpc>
              </a:pPr>
              <a:r>
                <a:rPr lang="en-US" sz="14299" spc="-285" u="none">
                  <a:solidFill>
                    <a:srgbClr val="4E3B1C"/>
                  </a:solidFill>
                  <a:latin typeface="Radley"/>
                  <a:ea typeface="Radley"/>
                  <a:cs typeface="Radley"/>
                  <a:sym typeface="Radley"/>
                </a:rPr>
                <a:t>The Great Pyramids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611225" y="8961121"/>
            <a:ext cx="4010025" cy="65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239">
                <a:solidFill>
                  <a:srgbClr val="4E3B1C"/>
                </a:solidFill>
                <a:latin typeface="Carlito"/>
                <a:ea typeface="Carlito"/>
                <a:cs typeface="Carlito"/>
                <a:sym typeface="Carlito"/>
              </a:rPr>
              <a:t>HISTORY AND ARCHITECTURE EXPERT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9323705"/>
            <a:ext cx="4010025" cy="29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9"/>
              </a:lnSpc>
            </a:pPr>
            <a:r>
              <a:rPr lang="en-US" sz="2299" i="true">
                <a:solidFill>
                  <a:srgbClr val="4E3B1C"/>
                </a:solidFill>
                <a:latin typeface="Radley Italics"/>
                <a:ea typeface="Radley Italics"/>
                <a:cs typeface="Radley Italics"/>
                <a:sym typeface="Radley Italics"/>
              </a:rPr>
              <a:t>KONDURI SUMANASRI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C4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1070305"/>
            <a:ext cx="6057900" cy="5790086"/>
            <a:chOff x="0" y="0"/>
            <a:chExt cx="8077200" cy="772011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00050"/>
              <a:ext cx="8077200" cy="4669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870"/>
                </a:lnSpc>
              </a:pPr>
              <a:r>
                <a:rPr lang="en-US" sz="14300" spc="-715" strike="noStrike" u="none">
                  <a:solidFill>
                    <a:srgbClr val="4E3B1C"/>
                  </a:solidFill>
                  <a:latin typeface="Radley"/>
                  <a:ea typeface="Radley"/>
                  <a:cs typeface="Radley"/>
                  <a:sym typeface="Radley"/>
                </a:rPr>
                <a:t>146.6 meters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832048"/>
              <a:ext cx="8077200" cy="18880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u="none">
                  <a:solidFill>
                    <a:srgbClr val="4E3B1C"/>
                  </a:solidFill>
                  <a:latin typeface="Carlito"/>
                  <a:ea typeface="Carlito"/>
                  <a:cs typeface="Carlito"/>
                  <a:sym typeface="Carlito"/>
                </a:rPr>
                <a:t>The Great Pyramid of Khufu, at </a:t>
              </a:r>
              <a:r>
                <a:rPr lang="en-US" b="true" sz="2000" u="none">
                  <a:solidFill>
                    <a:srgbClr val="4E3B1C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146.6 meters tall</a:t>
              </a:r>
              <a:r>
                <a:rPr lang="en-US" sz="2000" u="none">
                  <a:solidFill>
                    <a:srgbClr val="4E3B1C"/>
                  </a:solidFill>
                  <a:latin typeface="Carlito"/>
                  <a:ea typeface="Carlito"/>
                  <a:cs typeface="Carlito"/>
                  <a:sym typeface="Carlito"/>
                </a:rPr>
                <a:t>, was the tallest man-made structure for over 3,800 years, showcasing ancient Egyptians' architectural innovation and precision.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5443626"/>
              <a:ext cx="8077200" cy="0"/>
            </a:xfrm>
            <a:prstGeom prst="line">
              <a:avLst/>
            </a:prstGeom>
            <a:ln cap="flat" w="25400">
              <a:solidFill>
                <a:srgbClr val="4E3B1C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858125" cy="10287000"/>
            <a:chOff x="0" y="0"/>
            <a:chExt cx="2677931" cy="35056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77931" cy="3505655"/>
            </a:xfrm>
            <a:custGeom>
              <a:avLst/>
              <a:gdLst/>
              <a:ahLst/>
              <a:cxnLst/>
              <a:rect r="r" b="b" t="t" l="l"/>
              <a:pathLst>
                <a:path h="3505655" w="2677931">
                  <a:moveTo>
                    <a:pt x="0" y="0"/>
                  </a:moveTo>
                  <a:lnTo>
                    <a:pt x="2677931" y="0"/>
                  </a:lnTo>
                  <a:lnTo>
                    <a:pt x="2677931" y="3505655"/>
                  </a:lnTo>
                  <a:lnTo>
                    <a:pt x="0" y="3505655"/>
                  </a:lnTo>
                  <a:close/>
                </a:path>
              </a:pathLst>
            </a:custGeom>
            <a:blipFill>
              <a:blip r:embed="rId2"/>
              <a:stretch>
                <a:fillRect l="0" t="-421" r="0" b="-421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0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0"/>
            <a:ext cx="7858125" cy="10287000"/>
            <a:chOff x="0" y="0"/>
            <a:chExt cx="1217429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7429" cy="1593725"/>
            </a:xfrm>
            <a:custGeom>
              <a:avLst/>
              <a:gdLst/>
              <a:ahLst/>
              <a:cxnLst/>
              <a:rect r="r" b="b" t="t" l="l"/>
              <a:pathLst>
                <a:path h="1593725" w="1217429">
                  <a:moveTo>
                    <a:pt x="0" y="0"/>
                  </a:moveTo>
                  <a:lnTo>
                    <a:pt x="1217429" y="0"/>
                  </a:lnTo>
                  <a:lnTo>
                    <a:pt x="121742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421" r="0" b="-42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5"/>
            <a:ext cx="7230865" cy="5857875"/>
            <a:chOff x="0" y="0"/>
            <a:chExt cx="9641153" cy="78105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26326" y="57150"/>
              <a:ext cx="9614826" cy="2679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40"/>
                </a:lnSpc>
                <a:spcBef>
                  <a:spcPct val="0"/>
                </a:spcBef>
              </a:pPr>
              <a:r>
                <a:rPr lang="en-US" sz="7000" i="true">
                  <a:solidFill>
                    <a:srgbClr val="4E3B1C"/>
                  </a:solidFill>
                  <a:latin typeface="Radley Italics"/>
                  <a:ea typeface="Radley Italics"/>
                  <a:cs typeface="Radley Italics"/>
                  <a:sym typeface="Radley Italics"/>
                </a:rPr>
                <a:t>Purpose &amp; Significance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26326" y="3708400"/>
              <a:ext cx="9614826" cy="139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3499" u="none">
                  <a:solidFill>
                    <a:srgbClr val="7A5230"/>
                  </a:solidFill>
                  <a:latin typeface="Radley"/>
                  <a:ea typeface="Radley"/>
                  <a:cs typeface="Radley"/>
                  <a:sym typeface="Radley"/>
                </a:rPr>
                <a:t>Exploring the Role of Pyramids in Ancient Egyptian Society and Beliefs</a:t>
              </a:r>
            </a:p>
          </p:txBody>
        </p:sp>
        <p:sp>
          <p:nvSpPr>
            <p:cNvPr name="AutoShape 7" id="7"/>
            <p:cNvSpPr/>
            <p:nvPr/>
          </p:nvSpPr>
          <p:spPr>
            <a:xfrm>
              <a:off x="0" y="3222414"/>
              <a:ext cx="9614826" cy="0"/>
            </a:xfrm>
            <a:prstGeom prst="line">
              <a:avLst/>
            </a:prstGeom>
            <a:ln cap="flat" w="25400">
              <a:solidFill>
                <a:srgbClr val="4E3B1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26326" y="5740400"/>
              <a:ext cx="9588500" cy="207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>
                  <a:solidFill>
                    <a:srgbClr val="4E3B1C"/>
                  </a:solidFill>
                  <a:latin typeface="Carlito"/>
                  <a:ea typeface="Carlito"/>
                  <a:cs typeface="Carlito"/>
                  <a:sym typeface="Carlito"/>
                </a:rPr>
                <a:t>The pyramids served as monumental tombs for the </a:t>
              </a:r>
              <a:r>
                <a:rPr lang="en-US" b="true" sz="2000">
                  <a:solidFill>
                    <a:srgbClr val="4E3B1C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divine Pharaohs</a:t>
              </a:r>
              <a:r>
                <a:rPr lang="en-US" sz="2000">
                  <a:solidFill>
                    <a:srgbClr val="4E3B1C"/>
                  </a:solidFill>
                  <a:latin typeface="Carlito"/>
                  <a:ea typeface="Carlito"/>
                  <a:cs typeface="Carlito"/>
                  <a:sym typeface="Carlito"/>
                </a:rPr>
                <a:t>, designed to ensure their safe passage to the afterlife. They symbolized the </a:t>
              </a:r>
              <a:r>
                <a:rPr lang="en-US" b="true" sz="2000">
                  <a:solidFill>
                    <a:srgbClr val="4E3B1C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primordial mound of creation</a:t>
              </a:r>
              <a:r>
                <a:rPr lang="en-US" sz="2000">
                  <a:solidFill>
                    <a:srgbClr val="4E3B1C"/>
                  </a:solidFill>
                  <a:latin typeface="Carlito"/>
                  <a:ea typeface="Carlito"/>
                  <a:cs typeface="Carlito"/>
                  <a:sym typeface="Carlito"/>
                </a:rPr>
                <a:t> and reflected a society deeply invested in the afterlife, housing treasures essential for the Pharaoh's journey beyond this world.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" y="9184102"/>
            <a:ext cx="2171730" cy="2205796"/>
            <a:chOff x="0" y="0"/>
            <a:chExt cx="812800" cy="825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4E3B1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C4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325" y="0"/>
            <a:ext cx="10734675" cy="6934200"/>
            <a:chOff x="0" y="0"/>
            <a:chExt cx="3111331" cy="2009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1331" cy="2009804"/>
            </a:xfrm>
            <a:custGeom>
              <a:avLst/>
              <a:gdLst/>
              <a:ahLst/>
              <a:cxnLst/>
              <a:rect r="r" b="b" t="t" l="l"/>
              <a:pathLst>
                <a:path h="2009804" w="3111331">
                  <a:moveTo>
                    <a:pt x="0" y="0"/>
                  </a:moveTo>
                  <a:lnTo>
                    <a:pt x="3111331" y="0"/>
                  </a:lnTo>
                  <a:lnTo>
                    <a:pt x="3111331" y="2009804"/>
                  </a:lnTo>
                  <a:lnTo>
                    <a:pt x="0" y="2009804"/>
                  </a:lnTo>
                  <a:close/>
                </a:path>
              </a:pathLst>
            </a:custGeom>
            <a:blipFill>
              <a:blip r:embed="rId2"/>
              <a:stretch>
                <a:fillRect l="-74" t="0" r="-7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14375"/>
            <a:ext cx="4619625" cy="352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72"/>
              </a:lnSpc>
              <a:spcBef>
                <a:spcPct val="0"/>
              </a:spcBef>
            </a:pPr>
            <a:r>
              <a:rPr lang="en-US" sz="6225">
                <a:solidFill>
                  <a:srgbClr val="4E3B1C"/>
                </a:solidFill>
                <a:latin typeface="Radley"/>
                <a:ea typeface="Radley"/>
                <a:cs typeface="Radley"/>
                <a:sym typeface="Radley"/>
              </a:rPr>
              <a:t>Theories Behind Pyramid Construction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53325" y="7829550"/>
            <a:ext cx="5753100" cy="1209675"/>
            <a:chOff x="0" y="0"/>
            <a:chExt cx="7670800" cy="16129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76708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4E3B1C"/>
                  </a:solidFill>
                  <a:latin typeface="Radley"/>
                  <a:ea typeface="Radley"/>
                  <a:cs typeface="Radley"/>
                  <a:sym typeface="Radley"/>
                </a:rPr>
                <a:t>Ingenious Methods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59460"/>
              <a:ext cx="76708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4E3B1C"/>
                  </a:solidFill>
                  <a:latin typeface="Carlito"/>
                  <a:ea typeface="Carlito"/>
                  <a:cs typeface="Carlito"/>
                  <a:sym typeface="Carlito"/>
                </a:rPr>
                <a:t>Workers employed innovative techniques to overcome construction challenges.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9184102"/>
            <a:ext cx="2171730" cy="2205796"/>
            <a:chOff x="0" y="0"/>
            <a:chExt cx="812800" cy="825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4E3B1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C2A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4" y="2932118"/>
            <a:ext cx="6569697" cy="4349743"/>
            <a:chOff x="0" y="0"/>
            <a:chExt cx="8759596" cy="5799657"/>
          </a:xfrm>
        </p:grpSpPr>
        <p:sp>
          <p:nvSpPr>
            <p:cNvPr name="AutoShape 3" id="3"/>
            <p:cNvSpPr/>
            <p:nvPr/>
          </p:nvSpPr>
          <p:spPr>
            <a:xfrm flipV="true">
              <a:off x="18" y="4140192"/>
              <a:ext cx="8759543" cy="12700"/>
            </a:xfrm>
            <a:prstGeom prst="line">
              <a:avLst/>
            </a:prstGeom>
            <a:ln cap="flat" w="25400">
              <a:solidFill>
                <a:srgbClr val="4E3B1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 flipV="true">
              <a:off x="35" y="1748365"/>
              <a:ext cx="8759543" cy="12700"/>
            </a:xfrm>
            <a:prstGeom prst="line">
              <a:avLst/>
            </a:prstGeom>
            <a:ln cap="flat" w="25400">
              <a:solidFill>
                <a:srgbClr val="4E3B1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52" y="-76200"/>
              <a:ext cx="8759543" cy="478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4E3B1C"/>
                  </a:solidFill>
                  <a:latin typeface="Carlito"/>
                  <a:ea typeface="Carlito"/>
                  <a:cs typeface="Carlito"/>
                  <a:sym typeface="Carlito"/>
                </a:rPr>
                <a:t>WEBSITE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52" y="414865"/>
              <a:ext cx="8759543" cy="69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</a:pPr>
              <a:r>
                <a:rPr lang="en-US" sz="3499">
                  <a:solidFill>
                    <a:srgbClr val="4E3B1C"/>
                  </a:solidFill>
                  <a:latin typeface="Radley"/>
                  <a:ea typeface="Radley"/>
                  <a:cs typeface="Radley"/>
                  <a:sym typeface="Radley"/>
                </a:rPr>
                <a:t>reallygreatsite.com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52" y="2317746"/>
              <a:ext cx="8759543" cy="478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4E3B1C"/>
                  </a:solidFill>
                  <a:latin typeface="Carlito"/>
                  <a:ea typeface="Carlito"/>
                  <a:cs typeface="Carlito"/>
                  <a:sym typeface="Carlito"/>
                </a:rPr>
                <a:t>EMAIL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52" y="2808811"/>
              <a:ext cx="8759543" cy="69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3499" strike="noStrike" u="none">
                  <a:solidFill>
                    <a:srgbClr val="4E3B1C"/>
                  </a:solidFill>
                  <a:latin typeface="Radley"/>
                  <a:ea typeface="Radley"/>
                  <a:cs typeface="Radley"/>
                  <a:sym typeface="Radley"/>
                </a:rPr>
                <a:t>hello@reallygreatsite.com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2" y="4610092"/>
              <a:ext cx="8759543" cy="478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4E3B1C"/>
                  </a:solidFill>
                  <a:latin typeface="Carlito"/>
                  <a:ea typeface="Carlito"/>
                  <a:cs typeface="Carlito"/>
                  <a:sym typeface="Carlito"/>
                </a:rPr>
                <a:t>PHONE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52" y="5101157"/>
              <a:ext cx="8759543" cy="69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3499" strike="noStrike" u="none">
                  <a:solidFill>
                    <a:srgbClr val="4E3B1C"/>
                  </a:solidFill>
                  <a:latin typeface="Radley"/>
                  <a:ea typeface="Radley"/>
                  <a:cs typeface="Radley"/>
                  <a:sym typeface="Radley"/>
                </a:rPr>
                <a:t>123-456-7890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3458809"/>
            <a:ext cx="8324850" cy="2921319"/>
            <a:chOff x="0" y="0"/>
            <a:chExt cx="11099800" cy="3895092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49111" y="1215813"/>
              <a:ext cx="11050689" cy="2679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40"/>
                </a:lnSpc>
              </a:pPr>
              <a:r>
                <a:rPr lang="en-US" sz="7000">
                  <a:solidFill>
                    <a:srgbClr val="4E3B1C"/>
                  </a:solidFill>
                  <a:latin typeface="Radley"/>
                  <a:ea typeface="Radley"/>
                  <a:cs typeface="Radley"/>
                  <a:sym typeface="Radley"/>
                </a:rPr>
                <a:t>Thank you for your attention today!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57150"/>
              <a:ext cx="11050689" cy="645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</a:pPr>
              <a:r>
                <a:rPr lang="en-US" sz="3500" i="true" u="none">
                  <a:solidFill>
                    <a:srgbClr val="4E3B1C"/>
                  </a:solidFill>
                  <a:latin typeface="Radley Italics"/>
                  <a:ea typeface="Radley Italics"/>
                  <a:cs typeface="Radley Italics"/>
                  <a:sym typeface="Radley Italics"/>
                </a:rPr>
                <a:t>Contact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The Great Pyramids</dc:description>
  <dc:identifier>DAHXUrRMClI</dc:identifier>
  <dcterms:modified xsi:type="dcterms:W3CDTF">2011-08-01T06:04:30Z</dcterms:modified>
  <cp:revision>1</cp:revision>
  <dc:title>Presentation - The Great Pyramids</dc:title>
</cp:coreProperties>
</file>